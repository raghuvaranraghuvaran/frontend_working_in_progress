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2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72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E22BA9-3F99-45B5-9E2B-F78AF6D97333}" v="1" dt="2026-09-11T14:16:27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4" d="100"/>
          <a:sy n="84" d="100"/>
        </p:scale>
        <p:origin x="629" y="101"/>
      </p:cViewPr>
      <p:guideLst>
        <p:guide orient="horz" pos="2882"/>
        <p:guide pos="21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krishna janga" userId="6a5748ad44b30f57" providerId="LiveId" clId="{B8BEF77B-B3F6-43D0-9EC7-F626842B30DC}"/>
    <pc:docChg chg="undo custSel addSld delSld modSld">
      <pc:chgData name="sai krishna janga" userId="6a5748ad44b30f57" providerId="LiveId" clId="{B8BEF77B-B3F6-43D0-9EC7-F626842B30DC}" dt="2026-09-11T14:33:02.209" v="101" actId="14100"/>
      <pc:docMkLst>
        <pc:docMk/>
      </pc:docMkLst>
      <pc:sldChg chg="modSp mod">
        <pc:chgData name="sai krishna janga" userId="6a5748ad44b30f57" providerId="LiveId" clId="{B8BEF77B-B3F6-43D0-9EC7-F626842B30DC}" dt="2026-09-11T14:19:13.471" v="3" actId="20577"/>
        <pc:sldMkLst>
          <pc:docMk/>
          <pc:sldMk cId="0" sldId="257"/>
        </pc:sldMkLst>
        <pc:spChg chg="mod">
          <ac:chgData name="sai krishna janga" userId="6a5748ad44b30f57" providerId="LiveId" clId="{B8BEF77B-B3F6-43D0-9EC7-F626842B30DC}" dt="2026-09-11T14:19:13.471" v="3" actId="20577"/>
          <ac:spMkLst>
            <pc:docMk/>
            <pc:sldMk cId="0" sldId="257"/>
            <ac:spMk id="4" creationId="{00000000-0000-0000-0000-000000000000}"/>
          </ac:spMkLst>
        </pc:spChg>
      </pc:sldChg>
      <pc:sldChg chg="del">
        <pc:chgData name="sai krishna janga" userId="6a5748ad44b30f57" providerId="LiveId" clId="{B8BEF77B-B3F6-43D0-9EC7-F626842B30DC}" dt="2026-09-11T14:19:31.059" v="4" actId="2696"/>
        <pc:sldMkLst>
          <pc:docMk/>
          <pc:sldMk cId="0" sldId="258"/>
        </pc:sldMkLst>
      </pc:sldChg>
      <pc:sldChg chg="addSp delSp modSp mod">
        <pc:chgData name="sai krishna janga" userId="6a5748ad44b30f57" providerId="LiveId" clId="{B8BEF77B-B3F6-43D0-9EC7-F626842B30DC}" dt="2026-09-11T14:25:35.609" v="61" actId="14100"/>
        <pc:sldMkLst>
          <pc:docMk/>
          <pc:sldMk cId="0" sldId="260"/>
        </pc:sldMkLst>
        <pc:spChg chg="add mod">
          <ac:chgData name="sai krishna janga" userId="6a5748ad44b30f57" providerId="LiveId" clId="{B8BEF77B-B3F6-43D0-9EC7-F626842B30DC}" dt="2026-09-11T14:25:28.656" v="58" actId="6549"/>
          <ac:spMkLst>
            <pc:docMk/>
            <pc:sldMk cId="0" sldId="260"/>
            <ac:spMk id="6" creationId="{FC58F87D-C719-3F59-E3E9-62BACC01D3D0}"/>
          </ac:spMkLst>
        </pc:spChg>
        <pc:spChg chg="del mod">
          <ac:chgData name="sai krishna janga" userId="6a5748ad44b30f57" providerId="LiveId" clId="{B8BEF77B-B3F6-43D0-9EC7-F626842B30DC}" dt="2026-09-11T14:23:52.941" v="41" actId="478"/>
          <ac:spMkLst>
            <pc:docMk/>
            <pc:sldMk cId="0" sldId="260"/>
            <ac:spMk id="8" creationId="{00000000-0000-0000-0000-000000000000}"/>
          </ac:spMkLst>
        </pc:spChg>
        <pc:picChg chg="mod">
          <ac:chgData name="sai krishna janga" userId="6a5748ad44b30f57" providerId="LiveId" clId="{B8BEF77B-B3F6-43D0-9EC7-F626842B30DC}" dt="2026-09-11T14:25:35.609" v="61" actId="14100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sai krishna janga" userId="6a5748ad44b30f57" providerId="LiveId" clId="{B8BEF77B-B3F6-43D0-9EC7-F626842B30DC}" dt="2026-09-11T14:33:02.209" v="101" actId="14100"/>
        <pc:sldMkLst>
          <pc:docMk/>
          <pc:sldMk cId="0" sldId="261"/>
        </pc:sldMkLst>
        <pc:spChg chg="mod">
          <ac:chgData name="sai krishna janga" userId="6a5748ad44b30f57" providerId="LiveId" clId="{B8BEF77B-B3F6-43D0-9EC7-F626842B30DC}" dt="2026-09-11T14:33:02.209" v="101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sai krishna janga" userId="6a5748ad44b30f57" providerId="LiveId" clId="{B8BEF77B-B3F6-43D0-9EC7-F626842B30DC}" dt="2026-09-11T14:32:59.510" v="100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sai krishna janga" userId="6a5748ad44b30f57" providerId="LiveId" clId="{B8BEF77B-B3F6-43D0-9EC7-F626842B30DC}" dt="2026-09-11T14:32:42.654" v="96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sai krishna janga" userId="6a5748ad44b30f57" providerId="LiveId" clId="{B8BEF77B-B3F6-43D0-9EC7-F626842B30DC}" dt="2026-09-11T14:32:03.238" v="71" actId="1076"/>
          <ac:spMkLst>
            <pc:docMk/>
            <pc:sldMk cId="0" sldId="261"/>
            <ac:spMk id="7" creationId="{00000000-0000-0000-0000-000000000000}"/>
          </ac:spMkLst>
        </pc:spChg>
        <pc:picChg chg="mod">
          <ac:chgData name="sai krishna janga" userId="6a5748ad44b30f57" providerId="LiveId" clId="{B8BEF77B-B3F6-43D0-9EC7-F626842B30DC}" dt="2026-09-11T14:28:11.369" v="65" actId="1076"/>
          <ac:picMkLst>
            <pc:docMk/>
            <pc:sldMk cId="0" sldId="261"/>
            <ac:picMk id="8" creationId="{00000000-0000-0000-0000-000000000000}"/>
          </ac:picMkLst>
        </pc:picChg>
      </pc:sldChg>
      <pc:sldChg chg="modSp mod">
        <pc:chgData name="sai krishna janga" userId="6a5748ad44b30f57" providerId="LiveId" clId="{B8BEF77B-B3F6-43D0-9EC7-F626842B30DC}" dt="2026-09-11T14:21:33.281" v="33" actId="1076"/>
        <pc:sldMkLst>
          <pc:docMk/>
          <pc:sldMk cId="0" sldId="262"/>
        </pc:sldMkLst>
        <pc:spChg chg="mod">
          <ac:chgData name="sai krishna janga" userId="6a5748ad44b30f57" providerId="LiveId" clId="{B8BEF77B-B3F6-43D0-9EC7-F626842B30DC}" dt="2026-09-11T14:20:57.666" v="22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ai krishna janga" userId="6a5748ad44b30f57" providerId="LiveId" clId="{B8BEF77B-B3F6-43D0-9EC7-F626842B30DC}" dt="2026-09-11T14:21:31.419" v="32" actId="20577"/>
          <ac:spMkLst>
            <pc:docMk/>
            <pc:sldMk cId="0" sldId="262"/>
            <ac:spMk id="6" creationId="{00000000-0000-0000-0000-000000000000}"/>
          </ac:spMkLst>
        </pc:spChg>
        <pc:picChg chg="mod">
          <ac:chgData name="sai krishna janga" userId="6a5748ad44b30f57" providerId="LiveId" clId="{B8BEF77B-B3F6-43D0-9EC7-F626842B30DC}" dt="2026-09-11T14:21:33.281" v="33" actId="1076"/>
          <ac:picMkLst>
            <pc:docMk/>
            <pc:sldMk cId="0" sldId="262"/>
            <ac:picMk id="12" creationId="{00000000-0000-0000-0000-000000000000}"/>
          </ac:picMkLst>
        </pc:picChg>
      </pc:sldChg>
      <pc:sldChg chg="modSp mod">
        <pc:chgData name="sai krishna janga" userId="6a5748ad44b30f57" providerId="LiveId" clId="{B8BEF77B-B3F6-43D0-9EC7-F626842B30DC}" dt="2026-09-11T14:21:48.739" v="40" actId="20577"/>
        <pc:sldMkLst>
          <pc:docMk/>
          <pc:sldMk cId="0" sldId="265"/>
        </pc:sldMkLst>
        <pc:spChg chg="mod">
          <ac:chgData name="sai krishna janga" userId="6a5748ad44b30f57" providerId="LiveId" clId="{B8BEF77B-B3F6-43D0-9EC7-F626842B30DC}" dt="2026-09-11T14:21:39.121" v="37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i krishna janga" userId="6a5748ad44b30f57" providerId="LiveId" clId="{B8BEF77B-B3F6-43D0-9EC7-F626842B30DC}" dt="2026-09-11T14:21:48.739" v="40" actId="20577"/>
          <ac:spMkLst>
            <pc:docMk/>
            <pc:sldMk cId="0" sldId="265"/>
            <ac:spMk id="3" creationId="{00000000-0000-0000-0000-000000000000}"/>
          </ac:spMkLst>
        </pc:spChg>
      </pc:sldChg>
      <pc:sldChg chg="add">
        <pc:chgData name="sai krishna janga" userId="6a5748ad44b30f57" providerId="LiveId" clId="{B8BEF77B-B3F6-43D0-9EC7-F626842B30DC}" dt="2026-09-11T14:16:27.549" v="0"/>
        <pc:sldMkLst>
          <pc:docMk/>
          <pc:sldMk cId="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1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8716" y="874522"/>
            <a:ext cx="10894567" cy="589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8716" y="2863723"/>
            <a:ext cx="5953125" cy="2202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bg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716" y="1484198"/>
            <a:ext cx="5587365" cy="1154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400" spc="-10" dirty="0"/>
              <a:t>ReturnGuard</a:t>
            </a:r>
            <a:endParaRPr sz="7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48970" y="2863850"/>
            <a:ext cx="6270625" cy="2984500"/>
          </a:xfrm>
          <a:prstGeom prst="rect">
            <a:avLst/>
          </a:prstGeom>
        </p:spPr>
        <p:txBody>
          <a:bodyPr vert="horz" wrap="square" lIns="0" tIns="96520" rIns="0" bIns="0" rtlCol="0">
            <a:noAutofit/>
          </a:bodyPr>
          <a:lstStyle/>
          <a:p>
            <a:pPr marL="12700" marR="398145">
              <a:lnSpc>
                <a:spcPts val="2860"/>
              </a:lnSpc>
              <a:spcBef>
                <a:spcPts val="760"/>
              </a:spcBef>
            </a:pP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An</a:t>
            </a:r>
            <a:r>
              <a:rPr sz="1600" spc="5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intelligent,</a:t>
            </a:r>
            <a:r>
              <a:rPr sz="1600" spc="7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COD-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native</a:t>
            </a:r>
            <a:r>
              <a:rPr sz="1600" spc="4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fraud</a:t>
            </a:r>
            <a:r>
              <a:rPr sz="1600" spc="4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600" spc="6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return-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risk</a:t>
            </a:r>
            <a:r>
              <a:rPr sz="1600" spc="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engine</a:t>
            </a:r>
            <a:r>
              <a:rPr sz="1600" spc="6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built</a:t>
            </a:r>
            <a:r>
              <a:rPr sz="1600" spc="6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1600" spc="7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India's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small-to-mid</a:t>
            </a:r>
            <a:r>
              <a:rPr sz="1600" spc="2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D2C</a:t>
            </a:r>
            <a:r>
              <a:rPr sz="1600" spc="29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retailers.</a:t>
            </a:r>
            <a:endParaRPr sz="1600" dirty="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600" dirty="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</a:pPr>
            <a:endParaRPr sz="1600" b="1" dirty="0">
              <a:solidFill>
                <a:srgbClr val="F4F4F4"/>
              </a:solidFill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</a:pPr>
            <a:endParaRPr sz="1600" b="1" dirty="0">
              <a:solidFill>
                <a:srgbClr val="F4F4F4"/>
              </a:solidFill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</a:pPr>
            <a:endParaRPr sz="1600" b="1" dirty="0">
              <a:solidFill>
                <a:srgbClr val="F4F4F4"/>
              </a:solidFill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</a:pPr>
            <a:endParaRPr sz="1600" b="1" dirty="0">
              <a:solidFill>
                <a:srgbClr val="F4F4F4"/>
              </a:solidFill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</a:pPr>
            <a:endParaRPr sz="1600" b="1" dirty="0">
              <a:solidFill>
                <a:srgbClr val="F4F4F4"/>
              </a:solidFill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</a:pPr>
            <a:endParaRPr sz="1600" b="1" dirty="0">
              <a:solidFill>
                <a:srgbClr val="F4F4F4"/>
              </a:solidFill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Mentor</a:t>
            </a:r>
            <a:r>
              <a:rPr sz="18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:</a:t>
            </a:r>
            <a:r>
              <a:rPr sz="1800" spc="-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Thavayee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391400" y="0"/>
            <a:ext cx="4800600" cy="6858000"/>
            <a:chOff x="7391400" y="0"/>
            <a:chExt cx="4800600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76304" y="6558912"/>
              <a:ext cx="1073150" cy="2565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1400" y="0"/>
              <a:ext cx="4800600" cy="685799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b="1" spc="-85" dirty="0"/>
              <a:t>PROJECT</a:t>
            </a:r>
            <a:r>
              <a:rPr sz="3700" b="1" spc="-80" dirty="0"/>
              <a:t> </a:t>
            </a:r>
            <a:r>
              <a:rPr sz="3700" b="1" spc="-125" dirty="0"/>
              <a:t>OVERVIEW</a:t>
            </a:r>
            <a:endParaRPr sz="3700" b="1" dirty="0"/>
          </a:p>
        </p:txBody>
      </p:sp>
      <p:sp>
        <p:nvSpPr>
          <p:cNvPr id="4" name="object 4"/>
          <p:cNvSpPr txBox="1"/>
          <p:nvPr/>
        </p:nvSpPr>
        <p:spPr>
          <a:xfrm>
            <a:off x="647191" y="1872361"/>
            <a:ext cx="4518025" cy="4069704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07975" indent="-295275" algn="just">
              <a:lnSpc>
                <a:spcPct val="100000"/>
              </a:lnSpc>
              <a:spcBef>
                <a:spcPts val="655"/>
              </a:spcBef>
              <a:buSzPct val="81000"/>
              <a:buChar char="•"/>
              <a:tabLst>
                <a:tab pos="307975" algn="l"/>
              </a:tabLst>
            </a:pPr>
            <a:r>
              <a:rPr lang="en-US" altLang="en-US" sz="1600" dirty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rPr>
              <a:t>Return Guard is an intelligent return-fraud detection system for Indian D2C e-commerce.</a:t>
            </a:r>
          </a:p>
          <a:p>
            <a:pPr marL="307975" indent="-295275" algn="just">
              <a:lnSpc>
                <a:spcPct val="100000"/>
              </a:lnSpc>
              <a:spcBef>
                <a:spcPts val="655"/>
              </a:spcBef>
              <a:buSzPct val="81000"/>
              <a:buChar char="•"/>
              <a:tabLst>
                <a:tab pos="307975" algn="l"/>
              </a:tabLst>
            </a:pPr>
            <a:endParaRPr lang="en-US" altLang="en-US" sz="1600" dirty="0">
              <a:solidFill>
                <a:schemeClr val="bg1"/>
              </a:solidFill>
              <a:latin typeface="Trebuchet MS" panose="020B0603020202020204"/>
              <a:cs typeface="Trebuchet MS" panose="020B0603020202020204"/>
            </a:endParaRPr>
          </a:p>
          <a:p>
            <a:pPr marL="307975" indent="-295275" algn="just">
              <a:lnSpc>
                <a:spcPct val="100000"/>
              </a:lnSpc>
              <a:spcBef>
                <a:spcPts val="655"/>
              </a:spcBef>
              <a:buSzPct val="81000"/>
              <a:buChar char="•"/>
              <a:tabLst>
                <a:tab pos="307975" algn="l"/>
              </a:tabLst>
            </a:pPr>
            <a:r>
              <a:rPr lang="en-US" altLang="en-US" sz="1600" dirty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rPr>
              <a:t>It provides Shopper and Merchant portals to manage orders, returns, and fraud investigation.</a:t>
            </a:r>
          </a:p>
          <a:p>
            <a:pPr marL="307975" indent="-295275" algn="just">
              <a:lnSpc>
                <a:spcPct val="100000"/>
              </a:lnSpc>
              <a:spcBef>
                <a:spcPts val="655"/>
              </a:spcBef>
              <a:buSzPct val="81000"/>
              <a:buChar char="•"/>
              <a:tabLst>
                <a:tab pos="307975" algn="l"/>
              </a:tabLst>
            </a:pPr>
            <a:endParaRPr lang="en-US" altLang="en-US" sz="1600" dirty="0">
              <a:solidFill>
                <a:schemeClr val="bg1"/>
              </a:solidFill>
              <a:latin typeface="Trebuchet MS" panose="020B0603020202020204"/>
              <a:cs typeface="Trebuchet MS" panose="020B0603020202020204"/>
            </a:endParaRPr>
          </a:p>
          <a:p>
            <a:pPr marL="307975" indent="-295275" algn="just">
              <a:lnSpc>
                <a:spcPct val="100000"/>
              </a:lnSpc>
              <a:spcBef>
                <a:spcPts val="655"/>
              </a:spcBef>
              <a:buSzPct val="81000"/>
              <a:buChar char="•"/>
              <a:tabLst>
                <a:tab pos="307975" algn="l"/>
              </a:tabLst>
            </a:pPr>
            <a:r>
              <a:rPr lang="en-US" altLang="en-US" sz="1600" dirty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rPr>
              <a:t>A real-time 0–100 risk engine evaluates orders and return claims.</a:t>
            </a:r>
          </a:p>
          <a:p>
            <a:pPr marL="307975" indent="-295275" algn="just">
              <a:lnSpc>
                <a:spcPct val="100000"/>
              </a:lnSpc>
              <a:spcBef>
                <a:spcPts val="655"/>
              </a:spcBef>
              <a:buSzPct val="81000"/>
              <a:buChar char="•"/>
              <a:tabLst>
                <a:tab pos="307975" algn="l"/>
              </a:tabLst>
            </a:pPr>
            <a:endParaRPr lang="en-US" altLang="en-US" sz="1600" dirty="0">
              <a:solidFill>
                <a:schemeClr val="bg1"/>
              </a:solidFill>
              <a:latin typeface="Trebuchet MS" panose="020B0603020202020204"/>
              <a:cs typeface="Trebuchet MS" panose="020B0603020202020204"/>
            </a:endParaRPr>
          </a:p>
          <a:p>
            <a:pPr marL="307975" indent="-295275" algn="just">
              <a:lnSpc>
                <a:spcPct val="100000"/>
              </a:lnSpc>
              <a:spcBef>
                <a:spcPts val="655"/>
              </a:spcBef>
              <a:buSzPct val="81000"/>
              <a:buChar char="•"/>
              <a:tabLst>
                <a:tab pos="307975" algn="l"/>
              </a:tabLst>
            </a:pPr>
            <a:r>
              <a:rPr lang="en-US" altLang="en-US" sz="1600" dirty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rPr>
              <a:t>It helps reduce return fraud, control logistics costs, and protect merchant profits while keeping genuine customers’ experience smooth.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95999" y="5432247"/>
            <a:ext cx="5447283" cy="354008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315720" marR="5080" indent="-1303020">
              <a:lnSpc>
                <a:spcPts val="2120"/>
              </a:lnSpc>
              <a:spcBef>
                <a:spcPts val="600"/>
              </a:spcBef>
            </a:pPr>
            <a:r>
              <a:rPr sz="2200" spc="-9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SECURE</a:t>
            </a:r>
            <a:r>
              <a:rPr sz="220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2200" spc="-9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SHOPPING.</a:t>
            </a:r>
            <a:r>
              <a:rPr sz="2200" spc="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2200" spc="-7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SMARTER</a:t>
            </a:r>
            <a:r>
              <a:rPr lang="en-IN" sz="2200" spc="-7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2200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RETURNS.</a:t>
            </a:r>
            <a:endParaRPr sz="2200" dirty="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6" name="object 6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600" y="1777022"/>
            <a:ext cx="5729986" cy="3342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object 10">
            <a:extLst>
              <a:ext uri="{FF2B5EF4-FFF2-40B4-BE49-F238E27FC236}">
                <a16:creationId xmlns:a16="http://schemas.microsoft.com/office/drawing/2014/main" id="{03F8F568-F25E-3725-7C1D-CF97FBE5F844}"/>
              </a:ext>
            </a:extLst>
          </p:cNvPr>
          <p:cNvGrpSpPr/>
          <p:nvPr/>
        </p:nvGrpSpPr>
        <p:grpSpPr>
          <a:xfrm>
            <a:off x="674717" y="3968118"/>
            <a:ext cx="5350510" cy="1918335"/>
            <a:chOff x="6177339" y="1980564"/>
            <a:chExt cx="5350510" cy="1918335"/>
          </a:xfrm>
        </p:grpSpPr>
        <p:sp>
          <p:nvSpPr>
            <p:cNvPr id="39" name="object 11">
              <a:extLst>
                <a:ext uri="{FF2B5EF4-FFF2-40B4-BE49-F238E27FC236}">
                  <a16:creationId xmlns:a16="http://schemas.microsoft.com/office/drawing/2014/main" id="{B4B17B1D-52A8-0EA3-85A6-984D717B3052}"/>
                </a:ext>
              </a:extLst>
            </p:cNvPr>
            <p:cNvSpPr/>
            <p:nvPr/>
          </p:nvSpPr>
          <p:spPr>
            <a:xfrm>
              <a:off x="6194424" y="2264409"/>
              <a:ext cx="5333365" cy="1634489"/>
            </a:xfrm>
            <a:custGeom>
              <a:avLst/>
              <a:gdLst/>
              <a:ahLst/>
              <a:cxnLst/>
              <a:rect l="l" t="t" r="r" b="b"/>
              <a:pathLst>
                <a:path w="5333365" h="1634489">
                  <a:moveTo>
                    <a:pt x="5231765" y="0"/>
                  </a:moveTo>
                  <a:lnTo>
                    <a:pt x="101600" y="0"/>
                  </a:lnTo>
                  <a:lnTo>
                    <a:pt x="61595" y="7619"/>
                  </a:lnTo>
                  <a:lnTo>
                    <a:pt x="29845" y="29210"/>
                  </a:lnTo>
                  <a:lnTo>
                    <a:pt x="7620" y="61594"/>
                  </a:lnTo>
                  <a:lnTo>
                    <a:pt x="0" y="100964"/>
                  </a:lnTo>
                  <a:lnTo>
                    <a:pt x="0" y="1568450"/>
                  </a:lnTo>
                  <a:lnTo>
                    <a:pt x="19050" y="1615439"/>
                  </a:lnTo>
                  <a:lnTo>
                    <a:pt x="66039" y="1634489"/>
                  </a:lnTo>
                  <a:lnTo>
                    <a:pt x="5267325" y="1634489"/>
                  </a:lnTo>
                  <a:lnTo>
                    <a:pt x="5293359" y="1629409"/>
                  </a:lnTo>
                  <a:lnTo>
                    <a:pt x="5314315" y="1615439"/>
                  </a:lnTo>
                  <a:lnTo>
                    <a:pt x="5328284" y="1594484"/>
                  </a:lnTo>
                  <a:lnTo>
                    <a:pt x="5333365" y="1568450"/>
                  </a:lnTo>
                  <a:lnTo>
                    <a:pt x="5333365" y="100964"/>
                  </a:lnTo>
                  <a:lnTo>
                    <a:pt x="5325109" y="61594"/>
                  </a:lnTo>
                  <a:lnTo>
                    <a:pt x="5303520" y="29210"/>
                  </a:lnTo>
                  <a:lnTo>
                    <a:pt x="5271770" y="7619"/>
                  </a:lnTo>
                  <a:lnTo>
                    <a:pt x="5231765" y="0"/>
                  </a:lnTo>
                  <a:close/>
                </a:path>
              </a:pathLst>
            </a:custGeom>
            <a:solidFill>
              <a:srgbClr val="091729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12">
              <a:extLst>
                <a:ext uri="{FF2B5EF4-FFF2-40B4-BE49-F238E27FC236}">
                  <a16:creationId xmlns:a16="http://schemas.microsoft.com/office/drawing/2014/main" id="{BD60F3A9-E35C-38F6-8637-EE8D0F134E6C}"/>
                </a:ext>
              </a:extLst>
            </p:cNvPr>
            <p:cNvSpPr/>
            <p:nvPr/>
          </p:nvSpPr>
          <p:spPr>
            <a:xfrm>
              <a:off x="6202679" y="232600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0" y="635"/>
                  </a:moveTo>
                  <a:lnTo>
                    <a:pt x="635" y="0"/>
                  </a:lnTo>
                </a:path>
              </a:pathLst>
            </a:custGeom>
            <a:ln w="50680"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13">
              <a:extLst>
                <a:ext uri="{FF2B5EF4-FFF2-40B4-BE49-F238E27FC236}">
                  <a16:creationId xmlns:a16="http://schemas.microsoft.com/office/drawing/2014/main" id="{7D1B33D3-BD5E-5A6F-7CB0-64A1A5D22298}"/>
                </a:ext>
              </a:extLst>
            </p:cNvPr>
            <p:cNvSpPr/>
            <p:nvPr/>
          </p:nvSpPr>
          <p:spPr>
            <a:xfrm>
              <a:off x="6194424" y="1980564"/>
              <a:ext cx="5333365" cy="568325"/>
            </a:xfrm>
            <a:custGeom>
              <a:avLst/>
              <a:gdLst/>
              <a:ahLst/>
              <a:cxnLst/>
              <a:rect l="l" t="t" r="r" b="b"/>
              <a:pathLst>
                <a:path w="5333365" h="568325">
                  <a:moveTo>
                    <a:pt x="2670175" y="0"/>
                  </a:moveTo>
                  <a:lnTo>
                    <a:pt x="2623820" y="3810"/>
                  </a:lnTo>
                  <a:lnTo>
                    <a:pt x="2580004" y="14605"/>
                  </a:lnTo>
                  <a:lnTo>
                    <a:pt x="2538729" y="31750"/>
                  </a:lnTo>
                  <a:lnTo>
                    <a:pt x="2501265" y="55245"/>
                  </a:lnTo>
                  <a:lnTo>
                    <a:pt x="2468245" y="83185"/>
                  </a:lnTo>
                  <a:lnTo>
                    <a:pt x="2439670" y="116205"/>
                  </a:lnTo>
                  <a:lnTo>
                    <a:pt x="2416175" y="153670"/>
                  </a:lnTo>
                  <a:lnTo>
                    <a:pt x="2399029" y="194310"/>
                  </a:lnTo>
                  <a:lnTo>
                    <a:pt x="2388234" y="238125"/>
                  </a:lnTo>
                  <a:lnTo>
                    <a:pt x="2386329" y="259080"/>
                  </a:lnTo>
                  <a:lnTo>
                    <a:pt x="66039" y="259080"/>
                  </a:lnTo>
                  <a:lnTo>
                    <a:pt x="40004" y="264160"/>
                  </a:lnTo>
                  <a:lnTo>
                    <a:pt x="19050" y="278130"/>
                  </a:lnTo>
                  <a:lnTo>
                    <a:pt x="5079" y="299085"/>
                  </a:lnTo>
                  <a:lnTo>
                    <a:pt x="0" y="324485"/>
                  </a:lnTo>
                  <a:lnTo>
                    <a:pt x="0" y="360045"/>
                  </a:lnTo>
                  <a:lnTo>
                    <a:pt x="2395854" y="360045"/>
                  </a:lnTo>
                  <a:lnTo>
                    <a:pt x="2399029" y="374014"/>
                  </a:lnTo>
                  <a:lnTo>
                    <a:pt x="2416175" y="414655"/>
                  </a:lnTo>
                  <a:lnTo>
                    <a:pt x="2439670" y="452120"/>
                  </a:lnTo>
                  <a:lnTo>
                    <a:pt x="2468245" y="485139"/>
                  </a:lnTo>
                  <a:lnTo>
                    <a:pt x="2501265" y="513714"/>
                  </a:lnTo>
                  <a:lnTo>
                    <a:pt x="2538729" y="536575"/>
                  </a:lnTo>
                  <a:lnTo>
                    <a:pt x="2580004" y="553720"/>
                  </a:lnTo>
                  <a:lnTo>
                    <a:pt x="2623820" y="564514"/>
                  </a:lnTo>
                  <a:lnTo>
                    <a:pt x="2670175" y="568325"/>
                  </a:lnTo>
                  <a:lnTo>
                    <a:pt x="2715895" y="564514"/>
                  </a:lnTo>
                  <a:lnTo>
                    <a:pt x="2760345" y="553720"/>
                  </a:lnTo>
                  <a:lnTo>
                    <a:pt x="2800984" y="536575"/>
                  </a:lnTo>
                  <a:lnTo>
                    <a:pt x="2838450" y="513714"/>
                  </a:lnTo>
                  <a:lnTo>
                    <a:pt x="2871470" y="485139"/>
                  </a:lnTo>
                  <a:lnTo>
                    <a:pt x="2900045" y="452120"/>
                  </a:lnTo>
                  <a:lnTo>
                    <a:pt x="2923540" y="414655"/>
                  </a:lnTo>
                  <a:lnTo>
                    <a:pt x="2940684" y="374014"/>
                  </a:lnTo>
                  <a:lnTo>
                    <a:pt x="2944495" y="360045"/>
                  </a:lnTo>
                  <a:lnTo>
                    <a:pt x="5333365" y="360045"/>
                  </a:lnTo>
                  <a:lnTo>
                    <a:pt x="5333365" y="324485"/>
                  </a:lnTo>
                  <a:lnTo>
                    <a:pt x="5328284" y="299085"/>
                  </a:lnTo>
                  <a:lnTo>
                    <a:pt x="5314315" y="278130"/>
                  </a:lnTo>
                  <a:lnTo>
                    <a:pt x="5293359" y="264160"/>
                  </a:lnTo>
                  <a:lnTo>
                    <a:pt x="5267325" y="259080"/>
                  </a:lnTo>
                  <a:lnTo>
                    <a:pt x="2953384" y="259080"/>
                  </a:lnTo>
                  <a:lnTo>
                    <a:pt x="2951479" y="238125"/>
                  </a:lnTo>
                  <a:lnTo>
                    <a:pt x="2940684" y="194310"/>
                  </a:lnTo>
                  <a:lnTo>
                    <a:pt x="2923540" y="153670"/>
                  </a:lnTo>
                  <a:lnTo>
                    <a:pt x="2900045" y="116205"/>
                  </a:lnTo>
                  <a:lnTo>
                    <a:pt x="2871470" y="83185"/>
                  </a:lnTo>
                  <a:lnTo>
                    <a:pt x="2838450" y="55245"/>
                  </a:lnTo>
                  <a:lnTo>
                    <a:pt x="2800984" y="31750"/>
                  </a:lnTo>
                  <a:lnTo>
                    <a:pt x="2760345" y="14605"/>
                  </a:lnTo>
                  <a:lnTo>
                    <a:pt x="2715895" y="3810"/>
                  </a:lnTo>
                  <a:lnTo>
                    <a:pt x="2670175" y="0"/>
                  </a:lnTo>
                  <a:close/>
                </a:path>
              </a:pathLst>
            </a:custGeom>
            <a:solidFill>
              <a:srgbClr val="FFBD00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10">
            <a:extLst>
              <a:ext uri="{FF2B5EF4-FFF2-40B4-BE49-F238E27FC236}">
                <a16:creationId xmlns:a16="http://schemas.microsoft.com/office/drawing/2014/main" id="{E2C354E3-14E0-35CA-9050-AD184F8384ED}"/>
              </a:ext>
            </a:extLst>
          </p:cNvPr>
          <p:cNvGrpSpPr/>
          <p:nvPr/>
        </p:nvGrpSpPr>
        <p:grpSpPr>
          <a:xfrm>
            <a:off x="6196330" y="3971925"/>
            <a:ext cx="5350510" cy="1918335"/>
            <a:chOff x="6177339" y="1980564"/>
            <a:chExt cx="5350510" cy="1918335"/>
          </a:xfrm>
        </p:grpSpPr>
        <p:sp>
          <p:nvSpPr>
            <p:cNvPr id="35" name="object 11">
              <a:extLst>
                <a:ext uri="{FF2B5EF4-FFF2-40B4-BE49-F238E27FC236}">
                  <a16:creationId xmlns:a16="http://schemas.microsoft.com/office/drawing/2014/main" id="{6151474B-A0C1-32CA-854B-692A2C69641E}"/>
                </a:ext>
              </a:extLst>
            </p:cNvPr>
            <p:cNvSpPr/>
            <p:nvPr/>
          </p:nvSpPr>
          <p:spPr>
            <a:xfrm>
              <a:off x="6194424" y="2264409"/>
              <a:ext cx="5333365" cy="1634489"/>
            </a:xfrm>
            <a:custGeom>
              <a:avLst/>
              <a:gdLst/>
              <a:ahLst/>
              <a:cxnLst/>
              <a:rect l="l" t="t" r="r" b="b"/>
              <a:pathLst>
                <a:path w="5333365" h="1634489">
                  <a:moveTo>
                    <a:pt x="5231765" y="0"/>
                  </a:moveTo>
                  <a:lnTo>
                    <a:pt x="101600" y="0"/>
                  </a:lnTo>
                  <a:lnTo>
                    <a:pt x="61595" y="7619"/>
                  </a:lnTo>
                  <a:lnTo>
                    <a:pt x="29845" y="29210"/>
                  </a:lnTo>
                  <a:lnTo>
                    <a:pt x="7620" y="61594"/>
                  </a:lnTo>
                  <a:lnTo>
                    <a:pt x="0" y="100964"/>
                  </a:lnTo>
                  <a:lnTo>
                    <a:pt x="0" y="1568450"/>
                  </a:lnTo>
                  <a:lnTo>
                    <a:pt x="19050" y="1615439"/>
                  </a:lnTo>
                  <a:lnTo>
                    <a:pt x="66039" y="1634489"/>
                  </a:lnTo>
                  <a:lnTo>
                    <a:pt x="5267325" y="1634489"/>
                  </a:lnTo>
                  <a:lnTo>
                    <a:pt x="5293359" y="1629409"/>
                  </a:lnTo>
                  <a:lnTo>
                    <a:pt x="5314315" y="1615439"/>
                  </a:lnTo>
                  <a:lnTo>
                    <a:pt x="5328284" y="1594484"/>
                  </a:lnTo>
                  <a:lnTo>
                    <a:pt x="5333365" y="1568450"/>
                  </a:lnTo>
                  <a:lnTo>
                    <a:pt x="5333365" y="100964"/>
                  </a:lnTo>
                  <a:lnTo>
                    <a:pt x="5325109" y="61594"/>
                  </a:lnTo>
                  <a:lnTo>
                    <a:pt x="5303520" y="29210"/>
                  </a:lnTo>
                  <a:lnTo>
                    <a:pt x="5271770" y="7619"/>
                  </a:lnTo>
                  <a:lnTo>
                    <a:pt x="5231765" y="0"/>
                  </a:lnTo>
                  <a:close/>
                </a:path>
              </a:pathLst>
            </a:custGeom>
            <a:solidFill>
              <a:srgbClr val="091729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2">
              <a:extLst>
                <a:ext uri="{FF2B5EF4-FFF2-40B4-BE49-F238E27FC236}">
                  <a16:creationId xmlns:a16="http://schemas.microsoft.com/office/drawing/2014/main" id="{277E7C22-038F-40CA-526C-0D411EDF74A0}"/>
                </a:ext>
              </a:extLst>
            </p:cNvPr>
            <p:cNvSpPr/>
            <p:nvPr/>
          </p:nvSpPr>
          <p:spPr>
            <a:xfrm>
              <a:off x="6202679" y="232600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0" y="635"/>
                  </a:moveTo>
                  <a:lnTo>
                    <a:pt x="635" y="0"/>
                  </a:lnTo>
                </a:path>
              </a:pathLst>
            </a:custGeom>
            <a:ln w="50680"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3">
              <a:extLst>
                <a:ext uri="{FF2B5EF4-FFF2-40B4-BE49-F238E27FC236}">
                  <a16:creationId xmlns:a16="http://schemas.microsoft.com/office/drawing/2014/main" id="{8ABF6C41-42D0-8408-8563-96D5B0812EA3}"/>
                </a:ext>
              </a:extLst>
            </p:cNvPr>
            <p:cNvSpPr/>
            <p:nvPr/>
          </p:nvSpPr>
          <p:spPr>
            <a:xfrm>
              <a:off x="6194424" y="1980564"/>
              <a:ext cx="5333365" cy="568325"/>
            </a:xfrm>
            <a:custGeom>
              <a:avLst/>
              <a:gdLst/>
              <a:ahLst/>
              <a:cxnLst/>
              <a:rect l="l" t="t" r="r" b="b"/>
              <a:pathLst>
                <a:path w="5333365" h="568325">
                  <a:moveTo>
                    <a:pt x="2670175" y="0"/>
                  </a:moveTo>
                  <a:lnTo>
                    <a:pt x="2623820" y="3810"/>
                  </a:lnTo>
                  <a:lnTo>
                    <a:pt x="2580004" y="14605"/>
                  </a:lnTo>
                  <a:lnTo>
                    <a:pt x="2538729" y="31750"/>
                  </a:lnTo>
                  <a:lnTo>
                    <a:pt x="2501265" y="55245"/>
                  </a:lnTo>
                  <a:lnTo>
                    <a:pt x="2468245" y="83185"/>
                  </a:lnTo>
                  <a:lnTo>
                    <a:pt x="2439670" y="116205"/>
                  </a:lnTo>
                  <a:lnTo>
                    <a:pt x="2416175" y="153670"/>
                  </a:lnTo>
                  <a:lnTo>
                    <a:pt x="2399029" y="194310"/>
                  </a:lnTo>
                  <a:lnTo>
                    <a:pt x="2388234" y="238125"/>
                  </a:lnTo>
                  <a:lnTo>
                    <a:pt x="2386329" y="259080"/>
                  </a:lnTo>
                  <a:lnTo>
                    <a:pt x="66039" y="259080"/>
                  </a:lnTo>
                  <a:lnTo>
                    <a:pt x="40004" y="264160"/>
                  </a:lnTo>
                  <a:lnTo>
                    <a:pt x="19050" y="278130"/>
                  </a:lnTo>
                  <a:lnTo>
                    <a:pt x="5079" y="299085"/>
                  </a:lnTo>
                  <a:lnTo>
                    <a:pt x="0" y="324485"/>
                  </a:lnTo>
                  <a:lnTo>
                    <a:pt x="0" y="360045"/>
                  </a:lnTo>
                  <a:lnTo>
                    <a:pt x="2395854" y="360045"/>
                  </a:lnTo>
                  <a:lnTo>
                    <a:pt x="2399029" y="374014"/>
                  </a:lnTo>
                  <a:lnTo>
                    <a:pt x="2416175" y="414655"/>
                  </a:lnTo>
                  <a:lnTo>
                    <a:pt x="2439670" y="452120"/>
                  </a:lnTo>
                  <a:lnTo>
                    <a:pt x="2468245" y="485139"/>
                  </a:lnTo>
                  <a:lnTo>
                    <a:pt x="2501265" y="513714"/>
                  </a:lnTo>
                  <a:lnTo>
                    <a:pt x="2538729" y="536575"/>
                  </a:lnTo>
                  <a:lnTo>
                    <a:pt x="2580004" y="553720"/>
                  </a:lnTo>
                  <a:lnTo>
                    <a:pt x="2623820" y="564514"/>
                  </a:lnTo>
                  <a:lnTo>
                    <a:pt x="2670175" y="568325"/>
                  </a:lnTo>
                  <a:lnTo>
                    <a:pt x="2715895" y="564514"/>
                  </a:lnTo>
                  <a:lnTo>
                    <a:pt x="2760345" y="553720"/>
                  </a:lnTo>
                  <a:lnTo>
                    <a:pt x="2800984" y="536575"/>
                  </a:lnTo>
                  <a:lnTo>
                    <a:pt x="2838450" y="513714"/>
                  </a:lnTo>
                  <a:lnTo>
                    <a:pt x="2871470" y="485139"/>
                  </a:lnTo>
                  <a:lnTo>
                    <a:pt x="2900045" y="452120"/>
                  </a:lnTo>
                  <a:lnTo>
                    <a:pt x="2923540" y="414655"/>
                  </a:lnTo>
                  <a:lnTo>
                    <a:pt x="2940684" y="374014"/>
                  </a:lnTo>
                  <a:lnTo>
                    <a:pt x="2944495" y="360045"/>
                  </a:lnTo>
                  <a:lnTo>
                    <a:pt x="5333365" y="360045"/>
                  </a:lnTo>
                  <a:lnTo>
                    <a:pt x="5333365" y="324485"/>
                  </a:lnTo>
                  <a:lnTo>
                    <a:pt x="5328284" y="299085"/>
                  </a:lnTo>
                  <a:lnTo>
                    <a:pt x="5314315" y="278130"/>
                  </a:lnTo>
                  <a:lnTo>
                    <a:pt x="5293359" y="264160"/>
                  </a:lnTo>
                  <a:lnTo>
                    <a:pt x="5267325" y="259080"/>
                  </a:lnTo>
                  <a:lnTo>
                    <a:pt x="2953384" y="259080"/>
                  </a:lnTo>
                  <a:lnTo>
                    <a:pt x="2951479" y="238125"/>
                  </a:lnTo>
                  <a:lnTo>
                    <a:pt x="2940684" y="194310"/>
                  </a:lnTo>
                  <a:lnTo>
                    <a:pt x="2923540" y="153670"/>
                  </a:lnTo>
                  <a:lnTo>
                    <a:pt x="2900045" y="116205"/>
                  </a:lnTo>
                  <a:lnTo>
                    <a:pt x="2871470" y="83185"/>
                  </a:lnTo>
                  <a:lnTo>
                    <a:pt x="2838450" y="55245"/>
                  </a:lnTo>
                  <a:lnTo>
                    <a:pt x="2800984" y="31750"/>
                  </a:lnTo>
                  <a:lnTo>
                    <a:pt x="2760345" y="14605"/>
                  </a:lnTo>
                  <a:lnTo>
                    <a:pt x="2715895" y="3810"/>
                  </a:lnTo>
                  <a:lnTo>
                    <a:pt x="2670175" y="0"/>
                  </a:lnTo>
                  <a:close/>
                </a:path>
              </a:pathLst>
            </a:custGeom>
            <a:solidFill>
              <a:srgbClr val="FFBD00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10">
            <a:extLst>
              <a:ext uri="{FF2B5EF4-FFF2-40B4-BE49-F238E27FC236}">
                <a16:creationId xmlns:a16="http://schemas.microsoft.com/office/drawing/2014/main" id="{D5705ED1-BB25-0697-4188-5833495523B4}"/>
              </a:ext>
            </a:extLst>
          </p:cNvPr>
          <p:cNvGrpSpPr/>
          <p:nvPr/>
        </p:nvGrpSpPr>
        <p:grpSpPr>
          <a:xfrm>
            <a:off x="6188075" y="1756238"/>
            <a:ext cx="5333365" cy="1918334"/>
            <a:chOff x="6194424" y="1980564"/>
            <a:chExt cx="5333365" cy="1918334"/>
          </a:xfrm>
        </p:grpSpPr>
        <p:sp>
          <p:nvSpPr>
            <p:cNvPr id="31" name="object 11">
              <a:extLst>
                <a:ext uri="{FF2B5EF4-FFF2-40B4-BE49-F238E27FC236}">
                  <a16:creationId xmlns:a16="http://schemas.microsoft.com/office/drawing/2014/main" id="{107842B9-D791-61CE-9736-61F1159744CB}"/>
                </a:ext>
              </a:extLst>
            </p:cNvPr>
            <p:cNvSpPr/>
            <p:nvPr/>
          </p:nvSpPr>
          <p:spPr>
            <a:xfrm>
              <a:off x="6194424" y="2264409"/>
              <a:ext cx="5333365" cy="1634489"/>
            </a:xfrm>
            <a:custGeom>
              <a:avLst/>
              <a:gdLst/>
              <a:ahLst/>
              <a:cxnLst/>
              <a:rect l="l" t="t" r="r" b="b"/>
              <a:pathLst>
                <a:path w="5333365" h="1634489">
                  <a:moveTo>
                    <a:pt x="5231765" y="0"/>
                  </a:moveTo>
                  <a:lnTo>
                    <a:pt x="101600" y="0"/>
                  </a:lnTo>
                  <a:lnTo>
                    <a:pt x="61595" y="7619"/>
                  </a:lnTo>
                  <a:lnTo>
                    <a:pt x="29845" y="29210"/>
                  </a:lnTo>
                  <a:lnTo>
                    <a:pt x="7620" y="61594"/>
                  </a:lnTo>
                  <a:lnTo>
                    <a:pt x="0" y="100964"/>
                  </a:lnTo>
                  <a:lnTo>
                    <a:pt x="0" y="1568450"/>
                  </a:lnTo>
                  <a:lnTo>
                    <a:pt x="19050" y="1615439"/>
                  </a:lnTo>
                  <a:lnTo>
                    <a:pt x="66039" y="1634489"/>
                  </a:lnTo>
                  <a:lnTo>
                    <a:pt x="5267325" y="1634489"/>
                  </a:lnTo>
                  <a:lnTo>
                    <a:pt x="5293359" y="1629409"/>
                  </a:lnTo>
                  <a:lnTo>
                    <a:pt x="5314315" y="1615439"/>
                  </a:lnTo>
                  <a:lnTo>
                    <a:pt x="5328284" y="1594484"/>
                  </a:lnTo>
                  <a:lnTo>
                    <a:pt x="5333365" y="1568450"/>
                  </a:lnTo>
                  <a:lnTo>
                    <a:pt x="5333365" y="100964"/>
                  </a:lnTo>
                  <a:lnTo>
                    <a:pt x="5325109" y="61594"/>
                  </a:lnTo>
                  <a:lnTo>
                    <a:pt x="5303520" y="29210"/>
                  </a:lnTo>
                  <a:lnTo>
                    <a:pt x="5271770" y="7619"/>
                  </a:lnTo>
                  <a:lnTo>
                    <a:pt x="5231765" y="0"/>
                  </a:lnTo>
                  <a:close/>
                </a:path>
              </a:pathLst>
            </a:custGeom>
            <a:solidFill>
              <a:srgbClr val="091729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2">
              <a:extLst>
                <a:ext uri="{FF2B5EF4-FFF2-40B4-BE49-F238E27FC236}">
                  <a16:creationId xmlns:a16="http://schemas.microsoft.com/office/drawing/2014/main" id="{C18F2989-42D0-E9EE-8576-511C90F026B1}"/>
                </a:ext>
              </a:extLst>
            </p:cNvPr>
            <p:cNvSpPr/>
            <p:nvPr/>
          </p:nvSpPr>
          <p:spPr>
            <a:xfrm>
              <a:off x="6202679" y="232600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0" y="635"/>
                  </a:moveTo>
                  <a:lnTo>
                    <a:pt x="635" y="0"/>
                  </a:lnTo>
                </a:path>
              </a:pathLst>
            </a:custGeom>
            <a:ln w="50680"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3">
              <a:extLst>
                <a:ext uri="{FF2B5EF4-FFF2-40B4-BE49-F238E27FC236}">
                  <a16:creationId xmlns:a16="http://schemas.microsoft.com/office/drawing/2014/main" id="{C0FCEC8F-BF13-8E19-76A1-5DD6A95151A3}"/>
                </a:ext>
              </a:extLst>
            </p:cNvPr>
            <p:cNvSpPr/>
            <p:nvPr/>
          </p:nvSpPr>
          <p:spPr>
            <a:xfrm>
              <a:off x="6194424" y="1980564"/>
              <a:ext cx="5333365" cy="568325"/>
            </a:xfrm>
            <a:custGeom>
              <a:avLst/>
              <a:gdLst/>
              <a:ahLst/>
              <a:cxnLst/>
              <a:rect l="l" t="t" r="r" b="b"/>
              <a:pathLst>
                <a:path w="5333365" h="568325">
                  <a:moveTo>
                    <a:pt x="2670175" y="0"/>
                  </a:moveTo>
                  <a:lnTo>
                    <a:pt x="2623820" y="3810"/>
                  </a:lnTo>
                  <a:lnTo>
                    <a:pt x="2580004" y="14605"/>
                  </a:lnTo>
                  <a:lnTo>
                    <a:pt x="2538729" y="31750"/>
                  </a:lnTo>
                  <a:lnTo>
                    <a:pt x="2501265" y="55245"/>
                  </a:lnTo>
                  <a:lnTo>
                    <a:pt x="2468245" y="83185"/>
                  </a:lnTo>
                  <a:lnTo>
                    <a:pt x="2439670" y="116205"/>
                  </a:lnTo>
                  <a:lnTo>
                    <a:pt x="2416175" y="153670"/>
                  </a:lnTo>
                  <a:lnTo>
                    <a:pt x="2399029" y="194310"/>
                  </a:lnTo>
                  <a:lnTo>
                    <a:pt x="2388234" y="238125"/>
                  </a:lnTo>
                  <a:lnTo>
                    <a:pt x="2386329" y="259080"/>
                  </a:lnTo>
                  <a:lnTo>
                    <a:pt x="66039" y="259080"/>
                  </a:lnTo>
                  <a:lnTo>
                    <a:pt x="40004" y="264160"/>
                  </a:lnTo>
                  <a:lnTo>
                    <a:pt x="19050" y="278130"/>
                  </a:lnTo>
                  <a:lnTo>
                    <a:pt x="5079" y="299085"/>
                  </a:lnTo>
                  <a:lnTo>
                    <a:pt x="0" y="324485"/>
                  </a:lnTo>
                  <a:lnTo>
                    <a:pt x="0" y="360045"/>
                  </a:lnTo>
                  <a:lnTo>
                    <a:pt x="2395854" y="360045"/>
                  </a:lnTo>
                  <a:lnTo>
                    <a:pt x="2399029" y="374014"/>
                  </a:lnTo>
                  <a:lnTo>
                    <a:pt x="2416175" y="414655"/>
                  </a:lnTo>
                  <a:lnTo>
                    <a:pt x="2439670" y="452120"/>
                  </a:lnTo>
                  <a:lnTo>
                    <a:pt x="2468245" y="485139"/>
                  </a:lnTo>
                  <a:lnTo>
                    <a:pt x="2501265" y="513714"/>
                  </a:lnTo>
                  <a:lnTo>
                    <a:pt x="2538729" y="536575"/>
                  </a:lnTo>
                  <a:lnTo>
                    <a:pt x="2580004" y="553720"/>
                  </a:lnTo>
                  <a:lnTo>
                    <a:pt x="2623820" y="564514"/>
                  </a:lnTo>
                  <a:lnTo>
                    <a:pt x="2670175" y="568325"/>
                  </a:lnTo>
                  <a:lnTo>
                    <a:pt x="2715895" y="564514"/>
                  </a:lnTo>
                  <a:lnTo>
                    <a:pt x="2760345" y="553720"/>
                  </a:lnTo>
                  <a:lnTo>
                    <a:pt x="2800984" y="536575"/>
                  </a:lnTo>
                  <a:lnTo>
                    <a:pt x="2838450" y="513714"/>
                  </a:lnTo>
                  <a:lnTo>
                    <a:pt x="2871470" y="485139"/>
                  </a:lnTo>
                  <a:lnTo>
                    <a:pt x="2900045" y="452120"/>
                  </a:lnTo>
                  <a:lnTo>
                    <a:pt x="2923540" y="414655"/>
                  </a:lnTo>
                  <a:lnTo>
                    <a:pt x="2940684" y="374014"/>
                  </a:lnTo>
                  <a:lnTo>
                    <a:pt x="2944495" y="360045"/>
                  </a:lnTo>
                  <a:lnTo>
                    <a:pt x="5333365" y="360045"/>
                  </a:lnTo>
                  <a:lnTo>
                    <a:pt x="5333365" y="324485"/>
                  </a:lnTo>
                  <a:lnTo>
                    <a:pt x="5328284" y="299085"/>
                  </a:lnTo>
                  <a:lnTo>
                    <a:pt x="5314315" y="278130"/>
                  </a:lnTo>
                  <a:lnTo>
                    <a:pt x="5293359" y="264160"/>
                  </a:lnTo>
                  <a:lnTo>
                    <a:pt x="5267325" y="259080"/>
                  </a:lnTo>
                  <a:lnTo>
                    <a:pt x="2953384" y="259080"/>
                  </a:lnTo>
                  <a:lnTo>
                    <a:pt x="2951479" y="238125"/>
                  </a:lnTo>
                  <a:lnTo>
                    <a:pt x="2940684" y="194310"/>
                  </a:lnTo>
                  <a:lnTo>
                    <a:pt x="2923540" y="153670"/>
                  </a:lnTo>
                  <a:lnTo>
                    <a:pt x="2900045" y="116205"/>
                  </a:lnTo>
                  <a:lnTo>
                    <a:pt x="2871470" y="83185"/>
                  </a:lnTo>
                  <a:lnTo>
                    <a:pt x="2838450" y="55245"/>
                  </a:lnTo>
                  <a:lnTo>
                    <a:pt x="2800984" y="31750"/>
                  </a:lnTo>
                  <a:lnTo>
                    <a:pt x="2760345" y="14605"/>
                  </a:lnTo>
                  <a:lnTo>
                    <a:pt x="2715895" y="3810"/>
                  </a:lnTo>
                  <a:lnTo>
                    <a:pt x="2670175" y="0"/>
                  </a:lnTo>
                  <a:close/>
                </a:path>
              </a:pathLst>
            </a:custGeom>
            <a:solidFill>
              <a:srgbClr val="FFBD00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" name="object 10">
            <a:extLst>
              <a:ext uri="{FF2B5EF4-FFF2-40B4-BE49-F238E27FC236}">
                <a16:creationId xmlns:a16="http://schemas.microsoft.com/office/drawing/2014/main" id="{113E7A6D-62CD-12FB-848D-63FF8F979364}"/>
              </a:ext>
            </a:extLst>
          </p:cNvPr>
          <p:cNvGrpSpPr/>
          <p:nvPr/>
        </p:nvGrpSpPr>
        <p:grpSpPr>
          <a:xfrm>
            <a:off x="644238" y="1756238"/>
            <a:ext cx="5350510" cy="1918335"/>
            <a:chOff x="6177339" y="1980564"/>
            <a:chExt cx="5350510" cy="1918335"/>
          </a:xfrm>
        </p:grpSpPr>
        <p:sp>
          <p:nvSpPr>
            <p:cNvPr id="3" name="object 11">
              <a:extLst>
                <a:ext uri="{FF2B5EF4-FFF2-40B4-BE49-F238E27FC236}">
                  <a16:creationId xmlns:a16="http://schemas.microsoft.com/office/drawing/2014/main" id="{50A5243C-E7CA-E0F2-6D8E-B300D39CEF50}"/>
                </a:ext>
              </a:extLst>
            </p:cNvPr>
            <p:cNvSpPr/>
            <p:nvPr/>
          </p:nvSpPr>
          <p:spPr>
            <a:xfrm>
              <a:off x="6194424" y="2264409"/>
              <a:ext cx="5333365" cy="1634489"/>
            </a:xfrm>
            <a:custGeom>
              <a:avLst/>
              <a:gdLst/>
              <a:ahLst/>
              <a:cxnLst/>
              <a:rect l="l" t="t" r="r" b="b"/>
              <a:pathLst>
                <a:path w="5333365" h="1634489">
                  <a:moveTo>
                    <a:pt x="5231765" y="0"/>
                  </a:moveTo>
                  <a:lnTo>
                    <a:pt x="101600" y="0"/>
                  </a:lnTo>
                  <a:lnTo>
                    <a:pt x="61595" y="7619"/>
                  </a:lnTo>
                  <a:lnTo>
                    <a:pt x="29845" y="29210"/>
                  </a:lnTo>
                  <a:lnTo>
                    <a:pt x="7620" y="61594"/>
                  </a:lnTo>
                  <a:lnTo>
                    <a:pt x="0" y="100964"/>
                  </a:lnTo>
                  <a:lnTo>
                    <a:pt x="0" y="1568450"/>
                  </a:lnTo>
                  <a:lnTo>
                    <a:pt x="19050" y="1615439"/>
                  </a:lnTo>
                  <a:lnTo>
                    <a:pt x="66039" y="1634489"/>
                  </a:lnTo>
                  <a:lnTo>
                    <a:pt x="5267325" y="1634489"/>
                  </a:lnTo>
                  <a:lnTo>
                    <a:pt x="5293359" y="1629409"/>
                  </a:lnTo>
                  <a:lnTo>
                    <a:pt x="5314315" y="1615439"/>
                  </a:lnTo>
                  <a:lnTo>
                    <a:pt x="5328284" y="1594484"/>
                  </a:lnTo>
                  <a:lnTo>
                    <a:pt x="5333365" y="1568450"/>
                  </a:lnTo>
                  <a:lnTo>
                    <a:pt x="5333365" y="100964"/>
                  </a:lnTo>
                  <a:lnTo>
                    <a:pt x="5325109" y="61594"/>
                  </a:lnTo>
                  <a:lnTo>
                    <a:pt x="5303520" y="29210"/>
                  </a:lnTo>
                  <a:lnTo>
                    <a:pt x="5271770" y="7619"/>
                  </a:lnTo>
                  <a:lnTo>
                    <a:pt x="5231765" y="0"/>
                  </a:lnTo>
                  <a:close/>
                </a:path>
              </a:pathLst>
            </a:custGeom>
            <a:solidFill>
              <a:srgbClr val="091729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12">
              <a:extLst>
                <a:ext uri="{FF2B5EF4-FFF2-40B4-BE49-F238E27FC236}">
                  <a16:creationId xmlns:a16="http://schemas.microsoft.com/office/drawing/2014/main" id="{E6979A7F-C7E5-6319-7991-6F25D63555D7}"/>
                </a:ext>
              </a:extLst>
            </p:cNvPr>
            <p:cNvSpPr/>
            <p:nvPr/>
          </p:nvSpPr>
          <p:spPr>
            <a:xfrm>
              <a:off x="6202679" y="232600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0" y="635"/>
                  </a:moveTo>
                  <a:lnTo>
                    <a:pt x="635" y="0"/>
                  </a:lnTo>
                </a:path>
              </a:pathLst>
            </a:custGeom>
            <a:ln w="50680"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3">
              <a:extLst>
                <a:ext uri="{FF2B5EF4-FFF2-40B4-BE49-F238E27FC236}">
                  <a16:creationId xmlns:a16="http://schemas.microsoft.com/office/drawing/2014/main" id="{B2DC8EF2-C9EC-E66A-6E36-390B0900B6B9}"/>
                </a:ext>
              </a:extLst>
            </p:cNvPr>
            <p:cNvSpPr/>
            <p:nvPr/>
          </p:nvSpPr>
          <p:spPr>
            <a:xfrm>
              <a:off x="6194424" y="1980564"/>
              <a:ext cx="5333365" cy="568325"/>
            </a:xfrm>
            <a:custGeom>
              <a:avLst/>
              <a:gdLst/>
              <a:ahLst/>
              <a:cxnLst/>
              <a:rect l="l" t="t" r="r" b="b"/>
              <a:pathLst>
                <a:path w="5333365" h="568325">
                  <a:moveTo>
                    <a:pt x="2670175" y="0"/>
                  </a:moveTo>
                  <a:lnTo>
                    <a:pt x="2623820" y="3810"/>
                  </a:lnTo>
                  <a:lnTo>
                    <a:pt x="2580004" y="14605"/>
                  </a:lnTo>
                  <a:lnTo>
                    <a:pt x="2538729" y="31750"/>
                  </a:lnTo>
                  <a:lnTo>
                    <a:pt x="2501265" y="55245"/>
                  </a:lnTo>
                  <a:lnTo>
                    <a:pt x="2468245" y="83185"/>
                  </a:lnTo>
                  <a:lnTo>
                    <a:pt x="2439670" y="116205"/>
                  </a:lnTo>
                  <a:lnTo>
                    <a:pt x="2416175" y="153670"/>
                  </a:lnTo>
                  <a:lnTo>
                    <a:pt x="2399029" y="194310"/>
                  </a:lnTo>
                  <a:lnTo>
                    <a:pt x="2388234" y="238125"/>
                  </a:lnTo>
                  <a:lnTo>
                    <a:pt x="2386329" y="259080"/>
                  </a:lnTo>
                  <a:lnTo>
                    <a:pt x="66039" y="259080"/>
                  </a:lnTo>
                  <a:lnTo>
                    <a:pt x="40004" y="264160"/>
                  </a:lnTo>
                  <a:lnTo>
                    <a:pt x="19050" y="278130"/>
                  </a:lnTo>
                  <a:lnTo>
                    <a:pt x="5079" y="299085"/>
                  </a:lnTo>
                  <a:lnTo>
                    <a:pt x="0" y="324485"/>
                  </a:lnTo>
                  <a:lnTo>
                    <a:pt x="0" y="360045"/>
                  </a:lnTo>
                  <a:lnTo>
                    <a:pt x="2395854" y="360045"/>
                  </a:lnTo>
                  <a:lnTo>
                    <a:pt x="2399029" y="374014"/>
                  </a:lnTo>
                  <a:lnTo>
                    <a:pt x="2416175" y="414655"/>
                  </a:lnTo>
                  <a:lnTo>
                    <a:pt x="2439670" y="452120"/>
                  </a:lnTo>
                  <a:lnTo>
                    <a:pt x="2468245" y="485139"/>
                  </a:lnTo>
                  <a:lnTo>
                    <a:pt x="2501265" y="513714"/>
                  </a:lnTo>
                  <a:lnTo>
                    <a:pt x="2538729" y="536575"/>
                  </a:lnTo>
                  <a:lnTo>
                    <a:pt x="2580004" y="553720"/>
                  </a:lnTo>
                  <a:lnTo>
                    <a:pt x="2623820" y="564514"/>
                  </a:lnTo>
                  <a:lnTo>
                    <a:pt x="2670175" y="568325"/>
                  </a:lnTo>
                  <a:lnTo>
                    <a:pt x="2715895" y="564514"/>
                  </a:lnTo>
                  <a:lnTo>
                    <a:pt x="2760345" y="553720"/>
                  </a:lnTo>
                  <a:lnTo>
                    <a:pt x="2800984" y="536575"/>
                  </a:lnTo>
                  <a:lnTo>
                    <a:pt x="2838450" y="513714"/>
                  </a:lnTo>
                  <a:lnTo>
                    <a:pt x="2871470" y="485139"/>
                  </a:lnTo>
                  <a:lnTo>
                    <a:pt x="2900045" y="452120"/>
                  </a:lnTo>
                  <a:lnTo>
                    <a:pt x="2923540" y="414655"/>
                  </a:lnTo>
                  <a:lnTo>
                    <a:pt x="2940684" y="374014"/>
                  </a:lnTo>
                  <a:lnTo>
                    <a:pt x="2944495" y="360045"/>
                  </a:lnTo>
                  <a:lnTo>
                    <a:pt x="5333365" y="360045"/>
                  </a:lnTo>
                  <a:lnTo>
                    <a:pt x="5333365" y="324485"/>
                  </a:lnTo>
                  <a:lnTo>
                    <a:pt x="5328284" y="299085"/>
                  </a:lnTo>
                  <a:lnTo>
                    <a:pt x="5314315" y="278130"/>
                  </a:lnTo>
                  <a:lnTo>
                    <a:pt x="5293359" y="264160"/>
                  </a:lnTo>
                  <a:lnTo>
                    <a:pt x="5267325" y="259080"/>
                  </a:lnTo>
                  <a:lnTo>
                    <a:pt x="2953384" y="259080"/>
                  </a:lnTo>
                  <a:lnTo>
                    <a:pt x="2951479" y="238125"/>
                  </a:lnTo>
                  <a:lnTo>
                    <a:pt x="2940684" y="194310"/>
                  </a:lnTo>
                  <a:lnTo>
                    <a:pt x="2923540" y="153670"/>
                  </a:lnTo>
                  <a:lnTo>
                    <a:pt x="2900045" y="116205"/>
                  </a:lnTo>
                  <a:lnTo>
                    <a:pt x="2871470" y="83185"/>
                  </a:lnTo>
                  <a:lnTo>
                    <a:pt x="2838450" y="55245"/>
                  </a:lnTo>
                  <a:lnTo>
                    <a:pt x="2800984" y="31750"/>
                  </a:lnTo>
                  <a:lnTo>
                    <a:pt x="2760345" y="14605"/>
                  </a:lnTo>
                  <a:lnTo>
                    <a:pt x="2715895" y="3810"/>
                  </a:lnTo>
                  <a:lnTo>
                    <a:pt x="2670175" y="0"/>
                  </a:lnTo>
                  <a:close/>
                </a:path>
              </a:pathLst>
            </a:custGeom>
            <a:solidFill>
              <a:srgbClr val="FFBD00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spc="-160" dirty="0"/>
              <a:t>CHALLENGES</a:t>
            </a:r>
            <a:r>
              <a:rPr sz="3700" spc="-95" dirty="0"/>
              <a:t> </a:t>
            </a:r>
            <a:r>
              <a:rPr sz="3700" spc="-180" dirty="0"/>
              <a:t>&amp;</a:t>
            </a:r>
            <a:r>
              <a:rPr sz="3700" spc="-114" dirty="0"/>
              <a:t> </a:t>
            </a:r>
            <a:r>
              <a:rPr sz="3700" spc="-105" dirty="0"/>
              <a:t>SOLUTIONS</a:t>
            </a:r>
            <a:endParaRPr sz="3700" dirty="0"/>
          </a:p>
        </p:txBody>
      </p:sp>
      <p:sp>
        <p:nvSpPr>
          <p:cNvPr id="9" name="object 9"/>
          <p:cNvSpPr txBox="1"/>
          <p:nvPr/>
        </p:nvSpPr>
        <p:spPr>
          <a:xfrm>
            <a:off x="863600" y="1863598"/>
            <a:ext cx="4502785" cy="1647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3070" algn="ctr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Palatino Linotype" panose="02040502050505030304"/>
                <a:cs typeface="Palatino Linotype" panose="02040502050505030304"/>
              </a:rPr>
              <a:t>1</a:t>
            </a:r>
            <a:endParaRPr sz="175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Wardrobing</a:t>
            </a:r>
            <a:r>
              <a:rPr sz="1850" spc="-1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&amp;</a:t>
            </a:r>
            <a:r>
              <a:rPr sz="1850" spc="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Festive</a:t>
            </a:r>
            <a:r>
              <a:rPr sz="1850" spc="-1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spc="-1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Rental</a:t>
            </a:r>
            <a:r>
              <a:rPr sz="1850" spc="-10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spc="-1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Abuse</a:t>
            </a:r>
            <a:endParaRPr sz="185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Premium</a:t>
            </a:r>
            <a:r>
              <a:rPr sz="1450" spc="-4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apparel</a:t>
            </a:r>
            <a:r>
              <a:rPr sz="145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worn</a:t>
            </a:r>
            <a:r>
              <a:rPr sz="1450" spc="2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once,</a:t>
            </a:r>
            <a:r>
              <a:rPr sz="1450" spc="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returned</a:t>
            </a:r>
            <a:r>
              <a:rPr sz="1450" spc="-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1450" spc="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full </a:t>
            </a:r>
            <a:r>
              <a:rPr sz="145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refund.</a:t>
            </a:r>
            <a:endParaRPr sz="145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450" b="1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Fix:</a:t>
            </a:r>
            <a:r>
              <a:rPr sz="1450" b="1" spc="12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Seasonal</a:t>
            </a:r>
            <a:r>
              <a:rPr sz="1450" spc="1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risk</a:t>
            </a:r>
            <a:r>
              <a:rPr sz="1450" spc="1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tightening</a:t>
            </a:r>
            <a:r>
              <a:rPr sz="1450" spc="114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450" spc="114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tag-intact</a:t>
            </a:r>
            <a:r>
              <a:rPr sz="1450" spc="8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checks</a:t>
            </a:r>
            <a:endParaRPr sz="14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93307" y="1863598"/>
            <a:ext cx="4629150" cy="1647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algn="ctr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Palatino Linotype" panose="02040502050505030304"/>
                <a:cs typeface="Palatino Linotype" panose="02040502050505030304"/>
              </a:rPr>
              <a:t>2</a:t>
            </a:r>
            <a:endParaRPr sz="1750" dirty="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850" spc="-1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Size-</a:t>
            </a: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Bracketing</a:t>
            </a:r>
            <a:r>
              <a:rPr sz="1850" spc="8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 </a:t>
            </a: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Multi-</a:t>
            </a:r>
            <a:r>
              <a:rPr sz="1850" spc="-1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Orders</a:t>
            </a:r>
            <a:endParaRPr sz="1850" dirty="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3–4</a:t>
            </a:r>
            <a:r>
              <a:rPr sz="1450" spc="6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sizes</a:t>
            </a:r>
            <a:r>
              <a:rPr sz="1450" spc="5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ordered,</a:t>
            </a:r>
            <a:r>
              <a:rPr sz="1450" spc="8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only</a:t>
            </a:r>
            <a:r>
              <a:rPr sz="1450" spc="9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one</a:t>
            </a:r>
            <a:r>
              <a:rPr sz="1450" spc="8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kept</a:t>
            </a:r>
            <a:r>
              <a:rPr sz="1450" spc="9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—</a:t>
            </a:r>
            <a:r>
              <a:rPr sz="1450" spc="6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freight</a:t>
            </a:r>
            <a:r>
              <a:rPr sz="1450" spc="5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cost</a:t>
            </a:r>
            <a:r>
              <a:rPr sz="1450" spc="5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triples.</a:t>
            </a:r>
            <a:endParaRPr sz="1450" dirty="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450" b="1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Fix:</a:t>
            </a:r>
            <a:r>
              <a:rPr sz="1450" b="1" spc="10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Cart-level</a:t>
            </a:r>
            <a:r>
              <a:rPr sz="1450" spc="4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detection</a:t>
            </a:r>
            <a:r>
              <a:rPr sz="1450" spc="10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450" spc="9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exchange</a:t>
            </a:r>
            <a:r>
              <a:rPr sz="1450" spc="12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incentives</a:t>
            </a:r>
            <a:endParaRPr sz="14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68726" y="4092321"/>
            <a:ext cx="12509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Palatino Linotype" panose="02040502050505030304"/>
                <a:cs typeface="Palatino Linotype" panose="02040502050505030304"/>
              </a:rPr>
              <a:t>3</a:t>
            </a:r>
            <a:endParaRPr sz="175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7621" y="4618075"/>
            <a:ext cx="5232400" cy="10838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Electronics</a:t>
            </a:r>
            <a:r>
              <a:rPr sz="1850" spc="4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Hardware</a:t>
            </a:r>
            <a:r>
              <a:rPr sz="1850" spc="8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spc="-1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Swapping</a:t>
            </a:r>
            <a:endParaRPr sz="1850" dirty="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32000"/>
              </a:lnSpc>
              <a:spcBef>
                <a:spcPts val="655"/>
              </a:spcBef>
            </a:pP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High-value</a:t>
            </a:r>
            <a:r>
              <a:rPr sz="1450" spc="15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returns</a:t>
            </a:r>
            <a:r>
              <a:rPr sz="1450" spc="14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come</a:t>
            </a:r>
            <a:r>
              <a:rPr sz="1450" spc="13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back</a:t>
            </a:r>
            <a:r>
              <a:rPr sz="1450" spc="14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with</a:t>
            </a:r>
            <a:r>
              <a:rPr sz="1450" spc="18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parts</a:t>
            </a:r>
            <a:r>
              <a:rPr sz="1450" spc="1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missing</a:t>
            </a:r>
            <a:r>
              <a:rPr sz="1450" spc="14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spc="-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or </a:t>
            </a:r>
            <a:r>
              <a:rPr sz="145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swapped.</a:t>
            </a:r>
            <a:endParaRPr sz="1450" dirty="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450" b="1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Fix:</a:t>
            </a:r>
            <a:r>
              <a:rPr sz="1450" b="1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Serial/IMEI</a:t>
            </a:r>
            <a:r>
              <a:rPr sz="1450" spc="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verification +</a:t>
            </a:r>
            <a:r>
              <a:rPr sz="1450" spc="-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auto</a:t>
            </a:r>
            <a:r>
              <a:rPr sz="1450" spc="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risk </a:t>
            </a:r>
            <a:r>
              <a:rPr sz="1450" spc="-2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flag</a:t>
            </a:r>
            <a:endParaRPr sz="14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93307" y="4092321"/>
            <a:ext cx="4508500" cy="164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7355" algn="ctr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Palatino Linotype" panose="02040502050505030304"/>
                <a:cs typeface="Palatino Linotype" panose="02040502050505030304"/>
              </a:rPr>
              <a:t>4</a:t>
            </a:r>
            <a:endParaRPr sz="1750" dirty="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Courier</a:t>
            </a:r>
            <a:r>
              <a:rPr sz="1850" spc="5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&amp;</a:t>
            </a:r>
            <a:r>
              <a:rPr sz="1850" spc="4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Driver</a:t>
            </a:r>
            <a:r>
              <a:rPr sz="1850" spc="5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spc="-1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Collusion</a:t>
            </a:r>
            <a:endParaRPr sz="1850" dirty="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Drivers</a:t>
            </a:r>
            <a:r>
              <a:rPr sz="1450" spc="3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falsely</a:t>
            </a:r>
            <a:r>
              <a:rPr sz="1450" spc="4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mark</a:t>
            </a:r>
            <a:r>
              <a:rPr sz="1450" spc="4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items</a:t>
            </a:r>
            <a:r>
              <a:rPr sz="1450" spc="2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rejected</a:t>
            </a:r>
            <a:r>
              <a:rPr sz="1450" spc="1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1450" spc="7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siphon</a:t>
            </a:r>
            <a:r>
              <a:rPr sz="1450" spc="4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returns.</a:t>
            </a:r>
            <a:endParaRPr sz="1450" dirty="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450" b="1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Fix:</a:t>
            </a:r>
            <a:r>
              <a:rPr sz="1450" b="1" spc="1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Geo-stamped</a:t>
            </a:r>
            <a:r>
              <a:rPr sz="1450" spc="114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signatures</a:t>
            </a:r>
            <a:r>
              <a:rPr sz="1450" spc="1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450" spc="14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route</a:t>
            </a:r>
            <a:r>
              <a:rPr sz="1450" spc="1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analytics</a:t>
            </a:r>
            <a:endParaRPr sz="1450" dirty="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8716" y="808990"/>
            <a:ext cx="7290434" cy="49821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50" spc="-110" dirty="0"/>
              <a:t>SHOPPER</a:t>
            </a:r>
            <a:r>
              <a:rPr sz="3150" spc="-120" dirty="0"/>
              <a:t> </a:t>
            </a:r>
            <a:r>
              <a:rPr sz="3150" dirty="0"/>
              <a:t>&amp;</a:t>
            </a:r>
            <a:r>
              <a:rPr sz="3150" spc="-80" dirty="0"/>
              <a:t> </a:t>
            </a:r>
            <a:r>
              <a:rPr sz="3150" spc="-125" dirty="0"/>
              <a:t>MERCHANT</a:t>
            </a:r>
            <a:r>
              <a:rPr sz="3150" spc="-120" dirty="0"/>
              <a:t> </a:t>
            </a:r>
            <a:r>
              <a:rPr sz="3150" spc="-114" dirty="0"/>
              <a:t>DASHBOARDS</a:t>
            </a:r>
            <a:endParaRPr sz="3150" dirty="0"/>
          </a:p>
        </p:txBody>
      </p:sp>
      <p:grpSp>
        <p:nvGrpSpPr>
          <p:cNvPr id="4" name="object 4"/>
          <p:cNvGrpSpPr/>
          <p:nvPr/>
        </p:nvGrpSpPr>
        <p:grpSpPr>
          <a:xfrm>
            <a:off x="545465" y="1516380"/>
            <a:ext cx="5469890" cy="4730750"/>
            <a:chOff x="545465" y="1516380"/>
            <a:chExt cx="5469890" cy="4730750"/>
          </a:xfrm>
        </p:grpSpPr>
        <p:sp>
          <p:nvSpPr>
            <p:cNvPr id="5" name="object 5"/>
            <p:cNvSpPr/>
            <p:nvPr/>
          </p:nvSpPr>
          <p:spPr>
            <a:xfrm>
              <a:off x="545465" y="1516380"/>
              <a:ext cx="5469890" cy="4730750"/>
            </a:xfrm>
            <a:custGeom>
              <a:avLst/>
              <a:gdLst/>
              <a:ahLst/>
              <a:cxnLst/>
              <a:rect l="l" t="t" r="r" b="b"/>
              <a:pathLst>
                <a:path w="5469890" h="4730750">
                  <a:moveTo>
                    <a:pt x="5354320" y="0"/>
                  </a:moveTo>
                  <a:lnTo>
                    <a:pt x="115569" y="0"/>
                  </a:lnTo>
                  <a:lnTo>
                    <a:pt x="70484" y="9525"/>
                  </a:lnTo>
                  <a:lnTo>
                    <a:pt x="34289" y="34290"/>
                  </a:lnTo>
                  <a:lnTo>
                    <a:pt x="9525" y="71120"/>
                  </a:lnTo>
                  <a:lnTo>
                    <a:pt x="0" y="115570"/>
                  </a:lnTo>
                  <a:lnTo>
                    <a:pt x="0" y="4615180"/>
                  </a:lnTo>
                  <a:lnTo>
                    <a:pt x="9525" y="4660265"/>
                  </a:lnTo>
                  <a:lnTo>
                    <a:pt x="34289" y="4696460"/>
                  </a:lnTo>
                  <a:lnTo>
                    <a:pt x="70484" y="4721860"/>
                  </a:lnTo>
                  <a:lnTo>
                    <a:pt x="115569" y="4730750"/>
                  </a:lnTo>
                  <a:lnTo>
                    <a:pt x="5354320" y="4730750"/>
                  </a:lnTo>
                  <a:lnTo>
                    <a:pt x="5399405" y="4721860"/>
                  </a:lnTo>
                  <a:lnTo>
                    <a:pt x="5435600" y="4696460"/>
                  </a:lnTo>
                  <a:lnTo>
                    <a:pt x="5460365" y="4660265"/>
                  </a:lnTo>
                  <a:lnTo>
                    <a:pt x="5469890" y="4615180"/>
                  </a:lnTo>
                  <a:lnTo>
                    <a:pt x="5469890" y="115570"/>
                  </a:lnTo>
                  <a:lnTo>
                    <a:pt x="5460365" y="71120"/>
                  </a:lnTo>
                  <a:lnTo>
                    <a:pt x="5435600" y="34290"/>
                  </a:lnTo>
                  <a:lnTo>
                    <a:pt x="5399405" y="9525"/>
                  </a:lnTo>
                  <a:lnTo>
                    <a:pt x="5354320" y="0"/>
                  </a:lnTo>
                  <a:close/>
                </a:path>
              </a:pathLst>
            </a:custGeom>
            <a:solidFill>
              <a:srgbClr val="D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" y="3291205"/>
              <a:ext cx="4375785" cy="261429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92912" y="1984831"/>
            <a:ext cx="3996054" cy="120523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450"/>
              </a:spcBef>
              <a:buChar char="•"/>
              <a:tabLst>
                <a:tab pos="266700" algn="l"/>
              </a:tabLst>
            </a:pPr>
            <a:r>
              <a:rPr sz="1300" spc="-10" dirty="0">
                <a:latin typeface="Trebuchet MS" panose="020B0603020202020204"/>
                <a:cs typeface="Trebuchet MS" panose="020B0603020202020204"/>
              </a:rPr>
              <a:t>1-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click</a:t>
            </a:r>
            <a:r>
              <a:rPr sz="1300" spc="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return</a:t>
            </a:r>
            <a:r>
              <a:rPr sz="1300" spc="-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&amp; exchange</a:t>
            </a:r>
            <a:r>
              <a:rPr sz="1300" spc="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from</a:t>
            </a:r>
            <a:r>
              <a:rPr sz="1300" spc="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order</a:t>
            </a:r>
            <a:r>
              <a:rPr sz="1300" spc="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spc="-10" dirty="0">
                <a:latin typeface="Trebuchet MS" panose="020B0603020202020204"/>
                <a:cs typeface="Trebuchet MS" panose="020B0603020202020204"/>
              </a:rPr>
              <a:t>history</a:t>
            </a:r>
            <a:endParaRPr sz="1300">
              <a:latin typeface="Trebuchet MS" panose="020B0603020202020204"/>
              <a:cs typeface="Trebuchet MS" panose="020B0603020202020204"/>
            </a:endParaRPr>
          </a:p>
          <a:p>
            <a:pPr marL="266700" indent="-254000">
              <a:lnSpc>
                <a:spcPct val="100000"/>
              </a:lnSpc>
              <a:spcBef>
                <a:spcPts val="350"/>
              </a:spcBef>
              <a:buChar char="•"/>
              <a:tabLst>
                <a:tab pos="266700" algn="l"/>
              </a:tabLst>
            </a:pPr>
            <a:r>
              <a:rPr sz="1300" dirty="0">
                <a:latin typeface="Trebuchet MS" panose="020B0603020202020204"/>
                <a:cs typeface="Trebuchet MS" panose="020B0603020202020204"/>
              </a:rPr>
              <a:t>Smart</a:t>
            </a:r>
            <a:r>
              <a:rPr sz="1300" spc="1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prompts</a:t>
            </a:r>
            <a:r>
              <a:rPr sz="1300" spc="1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favor</a:t>
            </a:r>
            <a:r>
              <a:rPr sz="1300" spc="1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exchanges</a:t>
            </a:r>
            <a:r>
              <a:rPr sz="1300" spc="204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over</a:t>
            </a:r>
            <a:r>
              <a:rPr sz="1300" spc="1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cash</a:t>
            </a:r>
            <a:r>
              <a:rPr sz="1300" spc="1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spc="-10" dirty="0">
                <a:latin typeface="Trebuchet MS" panose="020B0603020202020204"/>
                <a:cs typeface="Trebuchet MS" panose="020B0603020202020204"/>
              </a:rPr>
              <a:t>refunds</a:t>
            </a:r>
            <a:endParaRPr sz="1300">
              <a:latin typeface="Trebuchet MS" panose="020B0603020202020204"/>
              <a:cs typeface="Trebuchet MS" panose="020B0603020202020204"/>
            </a:endParaRPr>
          </a:p>
          <a:p>
            <a:pPr marL="266700" indent="-254000">
              <a:lnSpc>
                <a:spcPct val="100000"/>
              </a:lnSpc>
              <a:spcBef>
                <a:spcPts val="350"/>
              </a:spcBef>
              <a:buChar char="•"/>
              <a:tabLst>
                <a:tab pos="266700" algn="l"/>
              </a:tabLst>
            </a:pPr>
            <a:r>
              <a:rPr sz="1300" dirty="0">
                <a:latin typeface="Trebuchet MS" panose="020B0603020202020204"/>
                <a:cs typeface="Trebuchet MS" panose="020B0603020202020204"/>
              </a:rPr>
              <a:t>Live</a:t>
            </a:r>
            <a:r>
              <a:rPr sz="1300" spc="-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tracking</a:t>
            </a:r>
            <a:r>
              <a:rPr sz="1300" spc="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from</a:t>
            </a:r>
            <a:r>
              <a:rPr sz="1300" spc="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pickup</a:t>
            </a:r>
            <a:r>
              <a:rPr sz="1300" spc="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to</a:t>
            </a:r>
            <a:r>
              <a:rPr sz="1300" spc="-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spc="-10" dirty="0">
                <a:latin typeface="Trebuchet MS" panose="020B0603020202020204"/>
                <a:cs typeface="Trebuchet MS" panose="020B0603020202020204"/>
              </a:rPr>
              <a:t>refund</a:t>
            </a:r>
            <a:endParaRPr sz="1300">
              <a:latin typeface="Trebuchet MS" panose="020B0603020202020204"/>
              <a:cs typeface="Trebuchet MS" panose="020B0603020202020204"/>
            </a:endParaRPr>
          </a:p>
          <a:p>
            <a:pPr marL="266700" indent="-254000">
              <a:lnSpc>
                <a:spcPct val="100000"/>
              </a:lnSpc>
              <a:spcBef>
                <a:spcPts val="455"/>
              </a:spcBef>
              <a:buChar char="•"/>
              <a:tabLst>
                <a:tab pos="266700" algn="l"/>
              </a:tabLst>
            </a:pPr>
            <a:r>
              <a:rPr sz="1300" dirty="0">
                <a:latin typeface="Trebuchet MS" panose="020B0603020202020204"/>
                <a:cs typeface="Trebuchet MS" panose="020B0603020202020204"/>
              </a:rPr>
              <a:t>85%+</a:t>
            </a:r>
            <a:r>
              <a:rPr sz="1300" spc="114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get</a:t>
            </a:r>
            <a:r>
              <a:rPr sz="1300" spc="9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instant,</a:t>
            </a:r>
            <a:r>
              <a:rPr sz="1300" spc="12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latin typeface="Trebuchet MS" panose="020B0603020202020204"/>
                <a:cs typeface="Trebuchet MS" panose="020B0603020202020204"/>
              </a:rPr>
              <a:t>friction-free</a:t>
            </a:r>
            <a:r>
              <a:rPr sz="1300" spc="11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300" spc="-10" dirty="0">
                <a:latin typeface="Trebuchet MS" panose="020B0603020202020204"/>
                <a:cs typeface="Trebuchet MS" panose="020B0603020202020204"/>
              </a:rPr>
              <a:t>approval</a:t>
            </a:r>
          </a:p>
        </p:txBody>
      </p:sp>
      <p:sp>
        <p:nvSpPr>
          <p:cNvPr id="9" name="object 9"/>
          <p:cNvSpPr/>
          <p:nvPr/>
        </p:nvSpPr>
        <p:spPr>
          <a:xfrm>
            <a:off x="6181725" y="1516380"/>
            <a:ext cx="5469255" cy="4730750"/>
          </a:xfrm>
          <a:custGeom>
            <a:avLst/>
            <a:gdLst/>
            <a:ahLst/>
            <a:cxnLst/>
            <a:rect l="l" t="t" r="r" b="b"/>
            <a:pathLst>
              <a:path w="5469255" h="4730750">
                <a:moveTo>
                  <a:pt x="5353684" y="0"/>
                </a:moveTo>
                <a:lnTo>
                  <a:pt x="115570" y="0"/>
                </a:lnTo>
                <a:lnTo>
                  <a:pt x="70485" y="9525"/>
                </a:lnTo>
                <a:lnTo>
                  <a:pt x="33654" y="34290"/>
                </a:lnTo>
                <a:lnTo>
                  <a:pt x="8889" y="71120"/>
                </a:lnTo>
                <a:lnTo>
                  <a:pt x="0" y="115570"/>
                </a:lnTo>
                <a:lnTo>
                  <a:pt x="0" y="4615180"/>
                </a:lnTo>
                <a:lnTo>
                  <a:pt x="8889" y="4660265"/>
                </a:lnTo>
                <a:lnTo>
                  <a:pt x="33654" y="4696460"/>
                </a:lnTo>
                <a:lnTo>
                  <a:pt x="70485" y="4721860"/>
                </a:lnTo>
                <a:lnTo>
                  <a:pt x="115570" y="4730750"/>
                </a:lnTo>
                <a:lnTo>
                  <a:pt x="5353684" y="4730750"/>
                </a:lnTo>
                <a:lnTo>
                  <a:pt x="5398770" y="4721860"/>
                </a:lnTo>
                <a:lnTo>
                  <a:pt x="5435600" y="4696460"/>
                </a:lnTo>
                <a:lnTo>
                  <a:pt x="5460365" y="4660265"/>
                </a:lnTo>
                <a:lnTo>
                  <a:pt x="5469255" y="4615180"/>
                </a:lnTo>
                <a:lnTo>
                  <a:pt x="5469255" y="115570"/>
                </a:lnTo>
                <a:lnTo>
                  <a:pt x="5460365" y="71120"/>
                </a:lnTo>
                <a:lnTo>
                  <a:pt x="5435600" y="34290"/>
                </a:lnTo>
                <a:lnTo>
                  <a:pt x="5398770" y="9525"/>
                </a:lnTo>
                <a:lnTo>
                  <a:pt x="5353684" y="0"/>
                </a:lnTo>
                <a:close/>
              </a:path>
            </a:pathLst>
          </a:custGeom>
          <a:solidFill>
            <a:srgbClr val="2C3C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2912" y="1583182"/>
            <a:ext cx="8374888" cy="2968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48960" algn="l"/>
              </a:tabLst>
            </a:pPr>
            <a:r>
              <a:rPr sz="1850" b="1" spc="-50" dirty="0">
                <a:latin typeface="Palatino Linotype" panose="02040502050505030304"/>
                <a:cs typeface="Palatino Linotype" panose="02040502050505030304"/>
              </a:rPr>
              <a:t>SHOPPER</a:t>
            </a:r>
            <a:r>
              <a:rPr sz="1850" b="1" spc="-45" dirty="0"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b="1" spc="-10" dirty="0">
                <a:latin typeface="Palatino Linotype" panose="02040502050505030304"/>
                <a:cs typeface="Palatino Linotype" panose="02040502050505030304"/>
              </a:rPr>
              <a:t>PORTAL</a:t>
            </a:r>
            <a:r>
              <a:rPr sz="1850" b="1" dirty="0">
                <a:latin typeface="Palatino Linotype" panose="02040502050505030304"/>
                <a:cs typeface="Palatino Linotype" panose="02040502050505030304"/>
              </a:rPr>
              <a:t>	</a:t>
            </a:r>
            <a:r>
              <a:rPr sz="1850" b="1" spc="-140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MERCHANT</a:t>
            </a:r>
            <a:r>
              <a:rPr sz="1850" b="1" spc="45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b="1" spc="-10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PORTAL</a:t>
            </a:r>
            <a:endParaRPr sz="1850" b="1" dirty="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29298" y="1984831"/>
            <a:ext cx="4097020" cy="120523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450"/>
              </a:spcBef>
              <a:buChar char="•"/>
              <a:tabLst>
                <a:tab pos="266700" algn="l"/>
              </a:tabLst>
            </a:pPr>
            <a:r>
              <a:rPr sz="13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Real-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time</a:t>
            </a:r>
            <a:r>
              <a:rPr sz="1300" spc="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KPIs:</a:t>
            </a:r>
            <a:r>
              <a:rPr sz="1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return</a:t>
            </a:r>
            <a:r>
              <a:rPr sz="1300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rate,</a:t>
            </a:r>
            <a:r>
              <a:rPr sz="1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loss</a:t>
            </a:r>
            <a:r>
              <a:rPr sz="1300" spc="-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prevented,</a:t>
            </a:r>
            <a:r>
              <a:rPr sz="1300" spc="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risk</a:t>
            </a:r>
            <a:r>
              <a:rPr sz="1300" spc="-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tiers</a:t>
            </a:r>
            <a:endParaRPr sz="1300">
              <a:latin typeface="Trebuchet MS" panose="020B0603020202020204"/>
              <a:cs typeface="Trebuchet MS" panose="020B0603020202020204"/>
            </a:endParaRPr>
          </a:p>
          <a:p>
            <a:pPr marL="266700" indent="-254000">
              <a:lnSpc>
                <a:spcPct val="100000"/>
              </a:lnSpc>
              <a:spcBef>
                <a:spcPts val="350"/>
              </a:spcBef>
              <a:buChar char="•"/>
              <a:tabLst>
                <a:tab pos="266700" algn="l"/>
              </a:tabLst>
            </a:pP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Auto-triage</a:t>
            </a:r>
            <a:r>
              <a:rPr sz="1300" spc="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routes risky</a:t>
            </a:r>
            <a:r>
              <a:rPr sz="1300" spc="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claims</a:t>
            </a:r>
            <a:r>
              <a:rPr sz="1300" spc="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1300" spc="3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300" spc="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review</a:t>
            </a:r>
            <a:r>
              <a:rPr sz="1300" spc="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queue</a:t>
            </a:r>
            <a:endParaRPr sz="1300">
              <a:latin typeface="Trebuchet MS" panose="020B0603020202020204"/>
              <a:cs typeface="Trebuchet MS" panose="020B0603020202020204"/>
            </a:endParaRPr>
          </a:p>
          <a:p>
            <a:pPr marL="266700" indent="-254000">
              <a:lnSpc>
                <a:spcPct val="100000"/>
              </a:lnSpc>
              <a:spcBef>
                <a:spcPts val="350"/>
              </a:spcBef>
              <a:buChar char="•"/>
              <a:tabLst>
                <a:tab pos="266700" algn="l"/>
              </a:tabLst>
            </a:pPr>
            <a:r>
              <a:rPr sz="13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Fraud-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sensitivity</a:t>
            </a:r>
            <a:r>
              <a:rPr sz="1300" spc="6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sliders,</a:t>
            </a:r>
            <a:r>
              <a:rPr sz="13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tuned</a:t>
            </a:r>
            <a:r>
              <a:rPr sz="1300" spc="1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per</a:t>
            </a:r>
            <a:r>
              <a:rPr sz="1300" spc="1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category</a:t>
            </a:r>
            <a:endParaRPr sz="1300">
              <a:latin typeface="Trebuchet MS" panose="020B0603020202020204"/>
              <a:cs typeface="Trebuchet MS" panose="020B0603020202020204"/>
            </a:endParaRPr>
          </a:p>
          <a:p>
            <a:pPr marL="266700" indent="-254000">
              <a:lnSpc>
                <a:spcPct val="100000"/>
              </a:lnSpc>
              <a:spcBef>
                <a:spcPts val="455"/>
              </a:spcBef>
              <a:buChar char="•"/>
              <a:tabLst>
                <a:tab pos="266700" algn="l"/>
              </a:tabLst>
            </a:pP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Doorstep</a:t>
            </a:r>
            <a:r>
              <a:rPr sz="13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witnessing</a:t>
            </a:r>
            <a:r>
              <a:rPr sz="1300" spc="17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&amp;</a:t>
            </a:r>
            <a:r>
              <a:rPr sz="13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courier</a:t>
            </a:r>
            <a:r>
              <a:rPr sz="1300" spc="1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handover</a:t>
            </a:r>
            <a:r>
              <a:rPr sz="1300" spc="12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tracking</a:t>
            </a:r>
          </a:p>
        </p:txBody>
      </p:sp>
      <p:pic>
        <p:nvPicPr>
          <p:cNvPr id="13" name="Picture 12" descr="Pictur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257" y="3357562"/>
            <a:ext cx="4314190" cy="2481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6410" y="450850"/>
            <a:ext cx="4427855" cy="72263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KEY</a:t>
            </a:r>
            <a:r>
              <a:rPr dirty="0"/>
              <a:t> </a:t>
            </a:r>
            <a:r>
              <a:rPr spc="-10" dirty="0"/>
              <a:t>FEATURES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316" y="1212215"/>
            <a:ext cx="956945" cy="5194935"/>
          </a:xfrm>
          <a:prstGeom prst="rect">
            <a:avLst/>
          </a:prstGeom>
        </p:spPr>
      </p:pic>
      <p:pic>
        <p:nvPicPr>
          <p:cNvPr id="10" name="object 10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1601" y="3947540"/>
            <a:ext cx="6256452" cy="268185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189245B-4F9D-2F4A-402E-060DE0694431}"/>
              </a:ext>
            </a:extLst>
          </p:cNvPr>
          <p:cNvGrpSpPr/>
          <p:nvPr/>
        </p:nvGrpSpPr>
        <p:grpSpPr>
          <a:xfrm>
            <a:off x="1802048" y="1587910"/>
            <a:ext cx="1573530" cy="4454370"/>
            <a:chOff x="2671212" y="1587910"/>
            <a:chExt cx="1573530" cy="4454370"/>
          </a:xfrm>
        </p:grpSpPr>
        <p:sp>
          <p:nvSpPr>
            <p:cNvPr id="5" name="object 5"/>
            <p:cNvSpPr txBox="1"/>
            <p:nvPr/>
          </p:nvSpPr>
          <p:spPr>
            <a:xfrm>
              <a:off x="2671212" y="1587910"/>
              <a:ext cx="1278890" cy="385445"/>
            </a:xfrm>
            <a:prstGeom prst="rect">
              <a:avLst/>
            </a:prstGeom>
          </p:spPr>
          <p:txBody>
            <a:bodyPr vert="horz" wrap="square" lIns="0" tIns="12700" rIns="0" bIns="0" rtlCol="0">
              <a:no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800" b="1" spc="-10" dirty="0">
                  <a:solidFill>
                    <a:srgbClr val="F4F4F4"/>
                  </a:solidFill>
                  <a:latin typeface="Palatino Linotype" panose="02040502050505030304"/>
                  <a:cs typeface="Palatino Linotype" panose="02040502050505030304"/>
                </a:rPr>
                <a:t>REQUEST</a:t>
              </a:r>
              <a:endParaRPr sz="1800" b="1" spc="-1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2671212" y="5554967"/>
              <a:ext cx="1573530" cy="48731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endParaRPr sz="1200" b="1" spc="-1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endParaRP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10" dirty="0">
                  <a:solidFill>
                    <a:srgbClr val="F4F4F4"/>
                  </a:solidFill>
                  <a:latin typeface="Palatino Linotype" panose="02040502050505030304"/>
                  <a:cs typeface="Palatino Linotype" panose="02040502050505030304"/>
                </a:rPr>
                <a:t>Decision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6492BAF-1DAB-88DE-7BFA-0529272BCD15}"/>
                </a:ext>
              </a:extLst>
            </p:cNvPr>
            <p:cNvSpPr txBox="1"/>
            <p:nvPr/>
          </p:nvSpPr>
          <p:spPr>
            <a:xfrm>
              <a:off x="2671212" y="2575934"/>
              <a:ext cx="10807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PICKUP</a:t>
              </a:r>
            </a:p>
            <a:p>
              <a:endParaRPr lang="en-IN" b="1" dirty="0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18A50139-F584-F8E3-E6A6-0F09B8F6FEEF}"/>
                </a:ext>
              </a:extLst>
            </p:cNvPr>
            <p:cNvSpPr txBox="1"/>
            <p:nvPr/>
          </p:nvSpPr>
          <p:spPr>
            <a:xfrm>
              <a:off x="2671212" y="3635735"/>
              <a:ext cx="1504601" cy="385445"/>
            </a:xfrm>
            <a:prstGeom prst="rect">
              <a:avLst/>
            </a:prstGeom>
          </p:spPr>
          <p:txBody>
            <a:bodyPr vert="horz" wrap="square" lIns="0" tIns="12700" rIns="0" bIns="0" rtlCol="0">
              <a:no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INSPECTION</a:t>
              </a:r>
              <a:endParaRPr lang="en-IN" sz="1800" b="1" spc="-10" dirty="0">
                <a:solidFill>
                  <a:schemeClr val="bg1"/>
                </a:solidFill>
                <a:latin typeface="Palatino Linotype" panose="02040502050505030304" pitchFamily="18" charset="0"/>
                <a:cs typeface="Palatino Linotype" panose="0204050205050503030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B9AFEE6-BF43-B3EC-3FE0-9D3BD6F2EF81}"/>
                </a:ext>
              </a:extLst>
            </p:cNvPr>
            <p:cNvSpPr txBox="1"/>
            <p:nvPr/>
          </p:nvSpPr>
          <p:spPr>
            <a:xfrm>
              <a:off x="2671212" y="4628333"/>
              <a:ext cx="9893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SCORE</a:t>
              </a:r>
            </a:p>
          </p:txBody>
        </p:sp>
      </p:grpSp>
      <p:sp>
        <p:nvSpPr>
          <p:cNvPr id="6" name="object 8">
            <a:extLst>
              <a:ext uri="{FF2B5EF4-FFF2-40B4-BE49-F238E27FC236}">
                <a16:creationId xmlns:a16="http://schemas.microsoft.com/office/drawing/2014/main" id="{FC58F87D-C719-3F59-E3E9-62BACC01D3D0}"/>
              </a:ext>
            </a:extLst>
          </p:cNvPr>
          <p:cNvSpPr txBox="1"/>
          <p:nvPr/>
        </p:nvSpPr>
        <p:spPr>
          <a:xfrm>
            <a:off x="6324600" y="487426"/>
            <a:ext cx="5964555" cy="34601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208280" indent="-195580">
              <a:lnSpc>
                <a:spcPct val="100000"/>
              </a:lnSpc>
              <a:spcBef>
                <a:spcPts val="95"/>
              </a:spcBef>
              <a:buChar char="•"/>
              <a:tabLst>
                <a:tab pos="207645" algn="l"/>
              </a:tabLst>
            </a:pPr>
            <a:r>
              <a:rPr lang="en-US" altLang="en-US" sz="2200" dirty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rPr>
              <a:t>Multi-Signal ,28-Checkpoint Risk Engine</a:t>
            </a:r>
          </a:p>
          <a:p>
            <a:pPr marL="208280" indent="-195580">
              <a:lnSpc>
                <a:spcPct val="100000"/>
              </a:lnSpc>
              <a:spcBef>
                <a:spcPts val="95"/>
              </a:spcBef>
              <a:buChar char="•"/>
              <a:tabLst>
                <a:tab pos="207645" algn="l"/>
              </a:tabLst>
            </a:pPr>
            <a:endParaRPr lang="en-US" altLang="en-US" sz="2200" dirty="0">
              <a:solidFill>
                <a:schemeClr val="bg1"/>
              </a:solidFill>
              <a:latin typeface="Trebuchet MS" panose="020B0603020202020204"/>
              <a:cs typeface="Trebuchet MS" panose="020B0603020202020204"/>
            </a:endParaRPr>
          </a:p>
          <a:p>
            <a:pPr marL="208280" indent="-195580">
              <a:lnSpc>
                <a:spcPct val="100000"/>
              </a:lnSpc>
              <a:spcBef>
                <a:spcPts val="95"/>
              </a:spcBef>
              <a:buChar char="•"/>
              <a:tabLst>
                <a:tab pos="207645" algn="l"/>
              </a:tabLst>
            </a:pPr>
            <a:r>
              <a:rPr lang="en-US" altLang="en-US" sz="2200" dirty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rPr>
              <a:t>Pre-Order Bracketing &amp; Wardrobing Guard</a:t>
            </a:r>
          </a:p>
          <a:p>
            <a:pPr marL="208280" indent="-195580">
              <a:lnSpc>
                <a:spcPct val="100000"/>
              </a:lnSpc>
              <a:spcBef>
                <a:spcPts val="95"/>
              </a:spcBef>
              <a:buChar char="•"/>
              <a:tabLst>
                <a:tab pos="207645" algn="l"/>
              </a:tabLst>
            </a:pPr>
            <a:endParaRPr lang="en-US" altLang="en-US" sz="2200" dirty="0">
              <a:solidFill>
                <a:schemeClr val="bg1"/>
              </a:solidFill>
              <a:latin typeface="Trebuchet MS" panose="020B0603020202020204"/>
              <a:cs typeface="Trebuchet MS" panose="020B0603020202020204"/>
            </a:endParaRPr>
          </a:p>
          <a:p>
            <a:pPr marL="208280" indent="-195580">
              <a:lnSpc>
                <a:spcPct val="100000"/>
              </a:lnSpc>
              <a:spcBef>
                <a:spcPts val="95"/>
              </a:spcBef>
              <a:buChar char="•"/>
              <a:tabLst>
                <a:tab pos="207645" algn="l"/>
              </a:tabLst>
            </a:pPr>
            <a:r>
              <a:rPr lang="en-US" altLang="en-US" sz="2200" dirty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rPr>
              <a:t>Forensic Visual Proof &amp; Serial Verification</a:t>
            </a:r>
          </a:p>
          <a:p>
            <a:pPr marL="208280" indent="-195580">
              <a:lnSpc>
                <a:spcPct val="100000"/>
              </a:lnSpc>
              <a:spcBef>
                <a:spcPts val="95"/>
              </a:spcBef>
              <a:buChar char="•"/>
              <a:tabLst>
                <a:tab pos="207645" algn="l"/>
              </a:tabLst>
            </a:pPr>
            <a:endParaRPr lang="en-US" altLang="en-US" sz="2200" dirty="0">
              <a:solidFill>
                <a:schemeClr val="bg1"/>
              </a:solidFill>
              <a:latin typeface="Trebuchet MS" panose="020B0603020202020204"/>
              <a:cs typeface="Trebuchet MS" panose="020B0603020202020204"/>
            </a:endParaRPr>
          </a:p>
          <a:p>
            <a:pPr marL="208280" indent="-195580">
              <a:lnSpc>
                <a:spcPct val="100000"/>
              </a:lnSpc>
              <a:spcBef>
                <a:spcPts val="95"/>
              </a:spcBef>
              <a:buChar char="•"/>
              <a:tabLst>
                <a:tab pos="207645" algn="l"/>
              </a:tabLst>
            </a:pPr>
            <a:r>
              <a:rPr lang="en-US" altLang="en-US" sz="2200" dirty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rPr>
              <a:t>5-Step Progressive Escalation Ladder</a:t>
            </a:r>
          </a:p>
          <a:p>
            <a:pPr marL="208280" indent="-195580">
              <a:lnSpc>
                <a:spcPct val="100000"/>
              </a:lnSpc>
              <a:spcBef>
                <a:spcPts val="95"/>
              </a:spcBef>
              <a:buChar char="•"/>
              <a:tabLst>
                <a:tab pos="207645" algn="l"/>
              </a:tabLst>
            </a:pPr>
            <a:endParaRPr lang="en-US" altLang="en-US" sz="2200" dirty="0">
              <a:solidFill>
                <a:schemeClr val="bg1"/>
              </a:solidFill>
              <a:latin typeface="Trebuchet MS" panose="020B0603020202020204"/>
              <a:cs typeface="Trebuchet MS" panose="020B0603020202020204"/>
            </a:endParaRPr>
          </a:p>
          <a:p>
            <a:pPr marL="208280" indent="-195580">
              <a:lnSpc>
                <a:spcPct val="100000"/>
              </a:lnSpc>
              <a:spcBef>
                <a:spcPts val="95"/>
              </a:spcBef>
              <a:buChar char="•"/>
              <a:tabLst>
                <a:tab pos="207645" algn="l"/>
              </a:tabLst>
            </a:pPr>
            <a:r>
              <a:rPr lang="en-US" altLang="en-US" sz="2200" dirty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rPr>
              <a:t>Delivery Agent &amp; Courier Telemetry</a:t>
            </a:r>
          </a:p>
          <a:p>
            <a:pPr marL="208280" indent="-195580">
              <a:lnSpc>
                <a:spcPct val="100000"/>
              </a:lnSpc>
              <a:spcBef>
                <a:spcPts val="95"/>
              </a:spcBef>
              <a:buChar char="•"/>
              <a:tabLst>
                <a:tab pos="207645" algn="l"/>
              </a:tabLst>
            </a:pPr>
            <a:endParaRPr lang="en-US" altLang="en-US" sz="2200" dirty="0">
              <a:solidFill>
                <a:schemeClr val="bg1"/>
              </a:solidFill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66040" y="-152400"/>
            <a:ext cx="12258040" cy="7010400"/>
          </a:xfrm>
          <a:custGeom>
            <a:avLst/>
            <a:gdLst/>
            <a:ahLst/>
            <a:cxnLst/>
            <a:rect l="l" t="t" r="r" b="b"/>
            <a:pathLst>
              <a:path w="12181840" h="6642734">
                <a:moveTo>
                  <a:pt x="12181840" y="0"/>
                </a:moveTo>
                <a:lnTo>
                  <a:pt x="0" y="0"/>
                </a:lnTo>
                <a:lnTo>
                  <a:pt x="0" y="6642734"/>
                </a:lnTo>
                <a:lnTo>
                  <a:pt x="12181840" y="6642734"/>
                </a:lnTo>
                <a:lnTo>
                  <a:pt x="12181840" y="0"/>
                </a:lnTo>
                <a:close/>
              </a:path>
            </a:pathLst>
          </a:custGeom>
          <a:solidFill>
            <a:srgbClr val="091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52400" y="648535"/>
            <a:ext cx="3886200" cy="413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170" dirty="0"/>
              <a:t>TECHNOLOGY</a:t>
            </a:r>
            <a:r>
              <a:rPr sz="2600" b="1" spc="160" dirty="0"/>
              <a:t> </a:t>
            </a:r>
            <a:r>
              <a:rPr sz="2600" b="1" spc="-65" dirty="0"/>
              <a:t>STACK</a:t>
            </a:r>
            <a:endParaRPr sz="2600" b="1" dirty="0"/>
          </a:p>
        </p:txBody>
      </p:sp>
      <p:sp>
        <p:nvSpPr>
          <p:cNvPr id="6" name="object 6"/>
          <p:cNvSpPr txBox="1"/>
          <p:nvPr/>
        </p:nvSpPr>
        <p:spPr>
          <a:xfrm>
            <a:off x="304800" y="1643350"/>
            <a:ext cx="4856004" cy="289374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3970" algn="just">
              <a:lnSpc>
                <a:spcPct val="100000"/>
              </a:lnSpc>
              <a:spcBef>
                <a:spcPts val="1085"/>
              </a:spcBef>
            </a:pPr>
            <a:r>
              <a:rPr sz="1800" b="1" spc="-6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FRONTEND</a:t>
            </a:r>
            <a:r>
              <a:rPr sz="1800" b="1" spc="-4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00" b="1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&amp;</a:t>
            </a:r>
            <a:r>
              <a:rPr sz="1800" b="1" spc="-8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CLIENT</a:t>
            </a:r>
            <a:endParaRPr lang="en-US" sz="1800" b="1" spc="-10" dirty="0">
              <a:solidFill>
                <a:srgbClr val="FFFFFF"/>
              </a:solidFill>
              <a:latin typeface="Palatino Linotype" panose="02040502050505030304"/>
              <a:cs typeface="Palatino Linotype" panose="02040502050505030304"/>
            </a:endParaRPr>
          </a:p>
          <a:p>
            <a:pPr marL="13970" algn="just">
              <a:lnSpc>
                <a:spcPct val="100000"/>
              </a:lnSpc>
              <a:spcBef>
                <a:spcPts val="1085"/>
              </a:spcBef>
            </a:pPr>
            <a:r>
              <a:rPr lang="en-IN" b="1" spc="-1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endParaRPr sz="1800" dirty="0">
              <a:latin typeface="Palatino Linotype" panose="02040502050505030304"/>
              <a:cs typeface="Palatino Linotype" panose="02040502050505030304"/>
            </a:endParaRPr>
          </a:p>
          <a:p>
            <a:pPr marL="216535" marR="83185" indent="-204470" algn="just">
              <a:lnSpc>
                <a:spcPts val="1620"/>
              </a:lnSpc>
              <a:spcBef>
                <a:spcPts val="875"/>
              </a:spcBef>
              <a:buChar char="•"/>
              <a:tabLst>
                <a:tab pos="216535" algn="l"/>
              </a:tabLst>
            </a:pP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React</a:t>
            </a:r>
            <a:r>
              <a:rPr sz="1600" spc="6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600" spc="6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Vite</a:t>
            </a:r>
            <a:r>
              <a:rPr sz="1600" spc="7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SPA</a:t>
            </a:r>
            <a:r>
              <a:rPr sz="1600" spc="9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with</a:t>
            </a:r>
            <a:r>
              <a:rPr sz="1600" spc="7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hot</a:t>
            </a:r>
            <a:r>
              <a:rPr sz="1600" spc="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module reload</a:t>
            </a:r>
            <a:endParaRPr lang="en-US" sz="1600" spc="-10" dirty="0">
              <a:solidFill>
                <a:srgbClr val="F4F4F4"/>
              </a:solidFill>
              <a:latin typeface="Trebuchet MS" panose="020B0603020202020204"/>
              <a:cs typeface="Trebuchet MS" panose="020B0603020202020204"/>
            </a:endParaRPr>
          </a:p>
          <a:p>
            <a:pPr marL="216535" marR="83185" indent="-204470" algn="just">
              <a:lnSpc>
                <a:spcPts val="1620"/>
              </a:lnSpc>
              <a:spcBef>
                <a:spcPts val="875"/>
              </a:spcBef>
              <a:buChar char="•"/>
              <a:tabLst>
                <a:tab pos="216535" algn="l"/>
              </a:tabLst>
            </a:pPr>
            <a:endParaRPr lang="en-US" sz="1600" spc="-10" dirty="0">
              <a:solidFill>
                <a:srgbClr val="F4F4F4"/>
              </a:solidFill>
              <a:latin typeface="Trebuchet MS" panose="020B0603020202020204"/>
              <a:cs typeface="Trebuchet MS" panose="020B0603020202020204"/>
            </a:endParaRPr>
          </a:p>
          <a:p>
            <a:pPr marL="216535" marR="83185" indent="-204470" algn="just">
              <a:lnSpc>
                <a:spcPts val="1620"/>
              </a:lnSpc>
              <a:spcBef>
                <a:spcPts val="875"/>
              </a:spcBef>
              <a:buChar char="•"/>
              <a:tabLst>
                <a:tab pos="216535" algn="l"/>
              </a:tabLst>
            </a:pPr>
            <a:r>
              <a:rPr lang="en-US" sz="16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Tailwind CSS</a:t>
            </a:r>
          </a:p>
          <a:p>
            <a:pPr marL="216535" marR="83185" indent="-204470" algn="just">
              <a:lnSpc>
                <a:spcPts val="1620"/>
              </a:lnSpc>
              <a:spcBef>
                <a:spcPts val="875"/>
              </a:spcBef>
              <a:buChar char="•"/>
              <a:tabLst>
                <a:tab pos="216535" algn="l"/>
              </a:tabLst>
            </a:pPr>
            <a:endParaRPr sz="1600" dirty="0">
              <a:latin typeface="Trebuchet MS" panose="020B0603020202020204"/>
              <a:cs typeface="Trebuchet MS" panose="020B0603020202020204"/>
            </a:endParaRPr>
          </a:p>
          <a:p>
            <a:pPr marL="216535" indent="-203835" algn="just">
              <a:lnSpc>
                <a:spcPct val="100000"/>
              </a:lnSpc>
              <a:spcBef>
                <a:spcPts val="135"/>
              </a:spcBef>
              <a:buChar char="•"/>
              <a:tabLst>
                <a:tab pos="216535" algn="l"/>
              </a:tabLst>
            </a:pPr>
            <a:r>
              <a:rPr sz="1600" dirty="0" err="1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Lucide</a:t>
            </a:r>
            <a:r>
              <a:rPr sz="1600" spc="12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icons</a:t>
            </a:r>
            <a:r>
              <a:rPr sz="1600" spc="114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600" spc="1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Context</a:t>
            </a:r>
            <a:r>
              <a:rPr sz="1600" spc="13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API</a:t>
            </a:r>
            <a:r>
              <a:rPr sz="1600" spc="14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2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state</a:t>
            </a:r>
            <a:endParaRPr lang="en-US" sz="1600" spc="-20" dirty="0">
              <a:solidFill>
                <a:srgbClr val="F4F4F4"/>
              </a:solidFill>
              <a:latin typeface="Trebuchet MS" panose="020B0603020202020204"/>
              <a:cs typeface="Trebuchet MS" panose="020B0603020202020204"/>
            </a:endParaRPr>
          </a:p>
          <a:p>
            <a:pPr marL="216535" indent="-203835" algn="just">
              <a:lnSpc>
                <a:spcPct val="100000"/>
              </a:lnSpc>
              <a:spcBef>
                <a:spcPts val="135"/>
              </a:spcBef>
              <a:buChar char="•"/>
              <a:tabLst>
                <a:tab pos="216535" algn="l"/>
              </a:tabLst>
            </a:pPr>
            <a:endParaRPr sz="1600" dirty="0">
              <a:latin typeface="Trebuchet MS" panose="020B0603020202020204"/>
              <a:cs typeface="Trebuchet MS" panose="020B0603020202020204"/>
            </a:endParaRPr>
          </a:p>
          <a:p>
            <a:pPr marL="216535" indent="-203835" algn="just">
              <a:lnSpc>
                <a:spcPct val="100000"/>
              </a:lnSpc>
              <a:spcBef>
                <a:spcPts val="140"/>
              </a:spcBef>
              <a:buChar char="•"/>
              <a:tabLst>
                <a:tab pos="216535" algn="l"/>
              </a:tabLst>
            </a:pP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Axios</a:t>
            </a:r>
            <a:r>
              <a:rPr sz="1600" spc="12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client</a:t>
            </a:r>
            <a:r>
              <a:rPr sz="1600" spc="13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with</a:t>
            </a:r>
            <a:r>
              <a:rPr sz="1600" spc="1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JWT</a:t>
            </a:r>
            <a:r>
              <a:rPr sz="1600" spc="13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auto-</a:t>
            </a:r>
            <a:r>
              <a:rPr sz="16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refresh</a:t>
            </a:r>
            <a:endParaRPr sz="16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91400" y="1608725"/>
            <a:ext cx="4699952" cy="2827056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3970" algn="just">
              <a:lnSpc>
                <a:spcPct val="100000"/>
              </a:lnSpc>
              <a:spcBef>
                <a:spcPts val="1085"/>
              </a:spcBef>
            </a:pPr>
            <a:r>
              <a:rPr sz="1800" b="1" spc="-8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BACKEND</a:t>
            </a:r>
            <a:r>
              <a:rPr sz="1800" b="1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00" b="1" spc="-9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&amp;</a:t>
            </a:r>
            <a:r>
              <a:rPr sz="1800" b="1" spc="-3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</a:rPr>
              <a:t>DATA</a:t>
            </a:r>
            <a:endParaRPr lang="en-US" sz="1800" b="1" spc="-20" dirty="0">
              <a:solidFill>
                <a:srgbClr val="FFFFFF"/>
              </a:solidFill>
              <a:latin typeface="Palatino Linotype" panose="02040502050505030304"/>
              <a:cs typeface="Palatino Linotype" panose="02040502050505030304"/>
            </a:endParaRPr>
          </a:p>
          <a:p>
            <a:pPr marL="13970" algn="just">
              <a:lnSpc>
                <a:spcPct val="100000"/>
              </a:lnSpc>
              <a:spcBef>
                <a:spcPts val="1085"/>
              </a:spcBef>
            </a:pPr>
            <a:endParaRPr sz="1800" dirty="0">
              <a:latin typeface="Palatino Linotype" panose="02040502050505030304"/>
              <a:cs typeface="Palatino Linotype" panose="02040502050505030304"/>
            </a:endParaRPr>
          </a:p>
          <a:p>
            <a:pPr marL="216535" indent="-203835" algn="just">
              <a:lnSpc>
                <a:spcPct val="100000"/>
              </a:lnSpc>
              <a:spcBef>
                <a:spcPts val="770"/>
              </a:spcBef>
              <a:buChar char="•"/>
              <a:tabLst>
                <a:tab pos="216535" algn="l"/>
              </a:tabLst>
            </a:pP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Django</a:t>
            </a:r>
            <a:r>
              <a:rPr sz="1600" spc="24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REST</a:t>
            </a:r>
            <a:r>
              <a:rPr sz="1600" spc="229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Framework,</a:t>
            </a:r>
            <a:r>
              <a:rPr sz="1600" spc="23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sub-second</a:t>
            </a:r>
            <a:r>
              <a:rPr sz="1600" spc="34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scoring</a:t>
            </a:r>
            <a:endParaRPr lang="en-US" sz="1600" spc="-10" dirty="0">
              <a:solidFill>
                <a:srgbClr val="F4F4F4"/>
              </a:solidFill>
              <a:latin typeface="Trebuchet MS" panose="020B0603020202020204"/>
              <a:cs typeface="Trebuchet MS" panose="020B0603020202020204"/>
            </a:endParaRPr>
          </a:p>
          <a:p>
            <a:pPr marL="216535" indent="-203835" algn="just">
              <a:lnSpc>
                <a:spcPct val="100000"/>
              </a:lnSpc>
              <a:spcBef>
                <a:spcPts val="770"/>
              </a:spcBef>
              <a:buChar char="•"/>
              <a:tabLst>
                <a:tab pos="216535" algn="l"/>
              </a:tabLst>
            </a:pPr>
            <a:endParaRPr sz="1600" dirty="0">
              <a:latin typeface="Trebuchet MS" panose="020B0603020202020204"/>
              <a:cs typeface="Trebuchet MS" panose="020B0603020202020204"/>
            </a:endParaRPr>
          </a:p>
          <a:p>
            <a:pPr marL="216535" indent="-203835" algn="just">
              <a:lnSpc>
                <a:spcPct val="100000"/>
              </a:lnSpc>
              <a:spcBef>
                <a:spcPts val="145"/>
              </a:spcBef>
              <a:buChar char="•"/>
              <a:tabLst>
                <a:tab pos="216535" algn="l"/>
              </a:tabLst>
            </a:pP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PostgreSQL</a:t>
            </a:r>
            <a:r>
              <a:rPr sz="1600" spc="2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with</a:t>
            </a:r>
            <a:r>
              <a:rPr sz="1600" spc="204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row-level</a:t>
            </a:r>
            <a:r>
              <a:rPr sz="1600" spc="19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security</a:t>
            </a:r>
            <a:endParaRPr lang="en-US" sz="1600" spc="-10" dirty="0">
              <a:solidFill>
                <a:srgbClr val="F4F4F4"/>
              </a:solidFill>
              <a:latin typeface="Trebuchet MS" panose="020B0603020202020204"/>
              <a:cs typeface="Trebuchet MS" panose="020B0603020202020204"/>
            </a:endParaRPr>
          </a:p>
          <a:p>
            <a:pPr marL="216535" indent="-203835" algn="just">
              <a:lnSpc>
                <a:spcPct val="100000"/>
              </a:lnSpc>
              <a:spcBef>
                <a:spcPts val="145"/>
              </a:spcBef>
              <a:buChar char="•"/>
              <a:tabLst>
                <a:tab pos="216535" algn="l"/>
              </a:tabLst>
            </a:pPr>
            <a:endParaRPr sz="1600" dirty="0">
              <a:latin typeface="Trebuchet MS" panose="020B0603020202020204"/>
              <a:cs typeface="Trebuchet MS" panose="020B0603020202020204"/>
            </a:endParaRPr>
          </a:p>
          <a:p>
            <a:pPr marL="216535" indent="-203835" algn="just">
              <a:lnSpc>
                <a:spcPct val="100000"/>
              </a:lnSpc>
              <a:spcBef>
                <a:spcPts val="145"/>
              </a:spcBef>
              <a:buChar char="•"/>
              <a:tabLst>
                <a:tab pos="216535" algn="l"/>
              </a:tabLst>
            </a:pP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Redis</a:t>
            </a:r>
            <a:r>
              <a:rPr sz="1600" spc="1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+</a:t>
            </a:r>
            <a:r>
              <a:rPr sz="1600" spc="1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Celery</a:t>
            </a:r>
            <a:r>
              <a:rPr sz="1600" spc="1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async</a:t>
            </a:r>
            <a:r>
              <a:rPr sz="1600" spc="114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pipeline</a:t>
            </a:r>
            <a:endParaRPr lang="en-US" sz="1600" spc="-10" dirty="0">
              <a:solidFill>
                <a:srgbClr val="F4F4F4"/>
              </a:solidFill>
              <a:latin typeface="Trebuchet MS" panose="020B0603020202020204"/>
              <a:cs typeface="Trebuchet MS" panose="020B0603020202020204"/>
            </a:endParaRPr>
          </a:p>
          <a:p>
            <a:pPr marL="216535" indent="-203835" algn="just">
              <a:lnSpc>
                <a:spcPct val="100000"/>
              </a:lnSpc>
              <a:spcBef>
                <a:spcPts val="145"/>
              </a:spcBef>
              <a:buChar char="•"/>
              <a:tabLst>
                <a:tab pos="216535" algn="l"/>
              </a:tabLst>
            </a:pPr>
            <a:endParaRPr sz="1600" dirty="0">
              <a:latin typeface="Trebuchet MS" panose="020B0603020202020204"/>
              <a:cs typeface="Trebuchet MS" panose="020B0603020202020204"/>
            </a:endParaRPr>
          </a:p>
          <a:p>
            <a:pPr marL="216535" indent="-203835" algn="just">
              <a:lnSpc>
                <a:spcPct val="100000"/>
              </a:lnSpc>
              <a:spcBef>
                <a:spcPts val="130"/>
              </a:spcBef>
              <a:buChar char="•"/>
              <a:tabLst>
                <a:tab pos="216535" algn="l"/>
              </a:tabLst>
            </a:pP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HMAC-signed</a:t>
            </a:r>
            <a:r>
              <a:rPr sz="1600" spc="39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webhooks,</a:t>
            </a:r>
            <a:r>
              <a:rPr sz="1600" spc="37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PDF</a:t>
            </a:r>
            <a:r>
              <a:rPr sz="1600" spc="3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invoicing</a:t>
            </a:r>
            <a:endParaRPr sz="1600" dirty="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8" name="object 8" descr="preencoded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188280" y="5209070"/>
            <a:ext cx="7815440" cy="1712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176B0E-3938-1399-5FEE-AD56082646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48600" y="0"/>
            <a:ext cx="43434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79120" y="340995"/>
            <a:ext cx="6760210" cy="61023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en-US" sz="2600" spc="-110" dirty="0"/>
              <a:t>CONCLUSION</a:t>
            </a:r>
            <a:br>
              <a:rPr lang="en-US" altLang="en-US" sz="2600" spc="-110" dirty="0"/>
            </a:br>
            <a:endParaRPr lang="en-US" altLang="en-US" sz="2600" spc="-110" dirty="0"/>
          </a:p>
        </p:txBody>
      </p:sp>
      <p:sp>
        <p:nvSpPr>
          <p:cNvPr id="6" name="object 6"/>
          <p:cNvSpPr txBox="1"/>
          <p:nvPr/>
        </p:nvSpPr>
        <p:spPr>
          <a:xfrm>
            <a:off x="579120" y="892016"/>
            <a:ext cx="6692265" cy="2945765"/>
          </a:xfrm>
          <a:prstGeom prst="rect">
            <a:avLst/>
          </a:prstGeom>
        </p:spPr>
        <p:txBody>
          <a:bodyPr vert="horz" wrap="square" lIns="0" tIns="38735" rIns="0" bIns="0" rtlCol="0">
            <a:noAutofit/>
          </a:bodyPr>
          <a:lstStyle/>
          <a:p>
            <a:pPr marL="236220" indent="-223520" algn="just">
              <a:lnSpc>
                <a:spcPct val="100000"/>
              </a:lnSpc>
              <a:spcBef>
                <a:spcPts val="305"/>
              </a:spcBef>
              <a:buChar char="•"/>
              <a:tabLst>
                <a:tab pos="236220" algn="l"/>
              </a:tabLst>
            </a:pPr>
            <a:r>
              <a:rPr lang="en-US" altLang="en-US" b="1" dirty="0">
                <a:solidFill>
                  <a:schemeClr val="bg1"/>
                </a:solidFill>
              </a:rPr>
              <a:t>Massive Loss Prevention: </a:t>
            </a:r>
            <a:r>
              <a:rPr lang="en-US" altLang="en-US" dirty="0">
                <a:solidFill>
                  <a:schemeClr val="bg1"/>
                </a:solidFill>
              </a:rPr>
              <a:t>Reduces fraudulent return losses by up to 35–40% without hurting sales conversion.</a:t>
            </a:r>
          </a:p>
          <a:p>
            <a:pPr marL="236220" indent="-223520" algn="just">
              <a:lnSpc>
                <a:spcPct val="100000"/>
              </a:lnSpc>
              <a:spcBef>
                <a:spcPts val="305"/>
              </a:spcBef>
              <a:buChar char="•"/>
              <a:tabLst>
                <a:tab pos="236220" algn="l"/>
              </a:tabLst>
            </a:pPr>
            <a:endParaRPr lang="en-US" altLang="en-US" dirty="0">
              <a:solidFill>
                <a:schemeClr val="bg1"/>
              </a:solidFill>
            </a:endParaRPr>
          </a:p>
          <a:p>
            <a:pPr marL="236220" indent="-223520" algn="just">
              <a:lnSpc>
                <a:spcPct val="100000"/>
              </a:lnSpc>
              <a:spcBef>
                <a:spcPts val="305"/>
              </a:spcBef>
              <a:buChar char="•"/>
              <a:tabLst>
                <a:tab pos="236220" algn="l"/>
              </a:tabLst>
            </a:pPr>
            <a:r>
              <a:rPr lang="en-US" altLang="en-US" b="1" dirty="0">
                <a:solidFill>
                  <a:schemeClr val="bg1"/>
                </a:solidFill>
              </a:rPr>
              <a:t>Fairness Through Progressive Policy: </a:t>
            </a:r>
            <a:r>
              <a:rPr lang="en-US" altLang="en-US" dirty="0">
                <a:solidFill>
                  <a:schemeClr val="bg1"/>
                </a:solidFill>
              </a:rPr>
              <a:t>Protects customer retention by graduating penalties rather than enforcing harsh bans.</a:t>
            </a:r>
            <a:endParaRPr lang="en-US" altLang="en-US" b="1" dirty="0">
              <a:solidFill>
                <a:schemeClr val="bg1"/>
              </a:solidFill>
            </a:endParaRPr>
          </a:p>
          <a:p>
            <a:pPr marL="12700" algn="just">
              <a:lnSpc>
                <a:spcPct val="100000"/>
              </a:lnSpc>
              <a:spcBef>
                <a:spcPts val="305"/>
              </a:spcBef>
              <a:tabLst>
                <a:tab pos="236220" algn="l"/>
              </a:tabLst>
            </a:pPr>
            <a:endParaRPr lang="en-US" altLang="en-US" dirty="0">
              <a:solidFill>
                <a:schemeClr val="bg1"/>
              </a:solidFill>
            </a:endParaRPr>
          </a:p>
          <a:p>
            <a:pPr marL="236220" indent="-223520" algn="just">
              <a:lnSpc>
                <a:spcPct val="100000"/>
              </a:lnSpc>
              <a:spcBef>
                <a:spcPts val="305"/>
              </a:spcBef>
              <a:buChar char="•"/>
              <a:tabLst>
                <a:tab pos="236220" algn="l"/>
              </a:tabLst>
            </a:pPr>
            <a:r>
              <a:rPr lang="en-US" altLang="en-US" b="1" dirty="0">
                <a:solidFill>
                  <a:schemeClr val="bg1"/>
                </a:solidFill>
              </a:rPr>
              <a:t>Scalable Modern Architecture: </a:t>
            </a:r>
            <a:r>
              <a:rPr lang="en-US" altLang="en-US" dirty="0">
                <a:solidFill>
                  <a:schemeClr val="bg1"/>
                </a:solidFill>
              </a:rPr>
              <a:t>Built with high-performance React + Vite and Django REST Framework, ready for enterprise integration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57871" y="3163014"/>
            <a:ext cx="3248660" cy="1212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 algn="ctr">
              <a:lnSpc>
                <a:spcPct val="100000"/>
              </a:lnSpc>
              <a:spcBef>
                <a:spcPts val="95"/>
              </a:spcBef>
            </a:pPr>
            <a:r>
              <a:rPr sz="3650" spc="-2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70%</a:t>
            </a:r>
            <a:endParaRPr sz="3650" dirty="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350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Cut</a:t>
            </a:r>
            <a:r>
              <a:rPr sz="1350" spc="-30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350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in</a:t>
            </a:r>
            <a:r>
              <a:rPr sz="1350" spc="5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350" spc="-10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wardrobing</a:t>
            </a:r>
            <a:endParaRPr sz="1350" dirty="0">
              <a:latin typeface="Palatino Linotype" panose="02040502050505030304"/>
              <a:cs typeface="Palatino Linotype" panose="02040502050505030304"/>
            </a:endParaRPr>
          </a:p>
          <a:p>
            <a:pPr marL="14605" algn="ctr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&amp;</a:t>
            </a:r>
            <a:r>
              <a:rPr sz="1100" spc="-4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rental</a:t>
            </a:r>
            <a:r>
              <a:rPr sz="1100" spc="-7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abuse</a:t>
            </a:r>
            <a:endParaRPr sz="11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17255" y="4561679"/>
            <a:ext cx="3006090" cy="1212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65" algn="ctr">
              <a:lnSpc>
                <a:spcPct val="100000"/>
              </a:lnSpc>
              <a:spcBef>
                <a:spcPts val="95"/>
              </a:spcBef>
            </a:pPr>
            <a:r>
              <a:rPr sz="3650" spc="-2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3x</a:t>
            </a:r>
            <a:endParaRPr sz="3650" dirty="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350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Reverse</a:t>
            </a:r>
            <a:r>
              <a:rPr sz="1350" spc="40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350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freight</a:t>
            </a:r>
            <a:r>
              <a:rPr sz="1350" spc="40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350" spc="-20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cost</a:t>
            </a:r>
            <a:endParaRPr sz="1350" dirty="0">
              <a:latin typeface="Palatino Linotype" panose="02040502050505030304"/>
              <a:cs typeface="Palatino Linotype" panose="02040502050505030304"/>
            </a:endParaRPr>
          </a:p>
          <a:p>
            <a:pPr marL="40640" algn="ctr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recovered</a:t>
            </a:r>
            <a:endParaRPr sz="11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82407" y="6034087"/>
            <a:ext cx="3506470" cy="56959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Protects</a:t>
            </a:r>
            <a:r>
              <a:rPr sz="1600" spc="2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merchant</a:t>
            </a:r>
            <a:r>
              <a:rPr sz="1600" spc="2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margin</a:t>
            </a:r>
            <a:r>
              <a:rPr sz="1600" spc="8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while</a:t>
            </a:r>
            <a:r>
              <a:rPr sz="1600" spc="9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keeping</a:t>
            </a:r>
            <a:r>
              <a:rPr sz="1600" spc="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COD</a:t>
            </a:r>
            <a:r>
              <a:rPr sz="1600" spc="12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safe</a:t>
            </a:r>
            <a:r>
              <a:rPr sz="1600" spc="9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1600" spc="8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offer.</a:t>
            </a:r>
          </a:p>
        </p:txBody>
      </p:sp>
      <p:pic>
        <p:nvPicPr>
          <p:cNvPr id="12" name="object 1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4114800"/>
            <a:ext cx="5486400" cy="265684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8763001" y="1102811"/>
            <a:ext cx="2438400" cy="3727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4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sym typeface="+mn-ea"/>
              </a:rPr>
              <a:t>BUSINESS</a:t>
            </a:r>
            <a:r>
              <a:rPr sz="2000" b="1" spc="-2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sym typeface="+mn-ea"/>
              </a:rPr>
              <a:t> </a:t>
            </a:r>
            <a:r>
              <a:rPr sz="2000" b="1" spc="-135" dirty="0">
                <a:solidFill>
                  <a:srgbClr val="FFFFFF"/>
                </a:solidFill>
                <a:latin typeface="Palatino Linotype" panose="02040502050505030304"/>
                <a:cs typeface="Palatino Linotype" panose="02040502050505030304"/>
                <a:sym typeface="+mn-ea"/>
              </a:rPr>
              <a:t>VALUE</a:t>
            </a:r>
            <a:endParaRPr lang="en-US" sz="2000" b="1" spc="-135" dirty="0">
              <a:solidFill>
                <a:srgbClr val="FFFFFF"/>
              </a:solidFill>
              <a:latin typeface="Palatino Linotype" panose="02040502050505030304"/>
              <a:cs typeface="Palatino Linotype" panose="02040502050505030304"/>
              <a:sym typeface="+mn-e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5912" y="1759109"/>
            <a:ext cx="3299460" cy="121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650" spc="-2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85%+</a:t>
            </a:r>
            <a:endParaRPr sz="3650" dirty="0">
              <a:latin typeface="Palatino Linotype" panose="02040502050505030304"/>
              <a:cs typeface="Palatino Linotype" panose="02040502050505030304"/>
            </a:endParaRPr>
          </a:p>
          <a:p>
            <a:pPr marR="3810" algn="ctr">
              <a:lnSpc>
                <a:spcPct val="100000"/>
              </a:lnSpc>
              <a:spcBef>
                <a:spcPts val="1090"/>
              </a:spcBef>
            </a:pPr>
            <a:r>
              <a:rPr sz="1350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Instant</a:t>
            </a:r>
            <a:r>
              <a:rPr sz="1350" spc="60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350" spc="-10" dirty="0">
                <a:solidFill>
                  <a:srgbClr val="FFBD00"/>
                </a:solidFill>
                <a:latin typeface="Palatino Linotype" panose="02040502050505030304"/>
                <a:cs typeface="Palatino Linotype" panose="02040502050505030304"/>
              </a:rPr>
              <a:t>approvals</a:t>
            </a:r>
            <a:endParaRPr sz="1350" dirty="0">
              <a:latin typeface="Palatino Linotype" panose="02040502050505030304"/>
              <a:cs typeface="Palatino Linotype" panose="02040502050505030304"/>
            </a:endParaRPr>
          </a:p>
          <a:p>
            <a:pPr algn="ctr">
              <a:lnSpc>
                <a:spcPct val="100000"/>
              </a:lnSpc>
              <a:spcBef>
                <a:spcPts val="945"/>
              </a:spcBef>
            </a:pPr>
            <a:r>
              <a:rPr sz="11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1100" spc="8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genuine</a:t>
            </a:r>
            <a:r>
              <a:rPr sz="1100" spc="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shoppers</a:t>
            </a:r>
            <a:endParaRPr sz="1100" dirty="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716" y="874522"/>
            <a:ext cx="10894567" cy="430887"/>
          </a:xfrm>
        </p:spPr>
        <p:txBody>
          <a:bodyPr/>
          <a:lstStyle/>
          <a:p>
            <a:r>
              <a:rPr lang="en-US" sz="2800" b="1" dirty="0"/>
              <a:t>UNIQUENESS</a:t>
            </a:r>
            <a:r>
              <a:rPr lang="en-US" sz="28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808345" cy="4860925"/>
          </a:xfrm>
        </p:spPr>
        <p:txBody>
          <a:bodyPr>
            <a:noAutofit/>
          </a:bodyPr>
          <a:lstStyle/>
          <a:p>
            <a:pPr algn="just"/>
            <a:r>
              <a:rPr lang="en-US" altLang="en-US" sz="1800" b="1" dirty="0"/>
              <a:t>Dual-Sided Balanced Ecosystem: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 dirty="0"/>
              <a:t>Protects merchant profit margins while rewarding verified low-risk shoppers with instant, frictionless refunds.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algn="just"/>
            <a:r>
              <a:rPr lang="en-US" altLang="en-US" sz="1800" b="1" dirty="0"/>
              <a:t>Pre-Dispatch Interception: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 dirty="0"/>
              <a:t>Stops wardrobing and size-bracketing before shipping costs are incurred, saving significant two-way freight expenses.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algn="just"/>
            <a:r>
              <a:rPr lang="en-US" altLang="en-US" sz="1800" b="1" dirty="0"/>
              <a:t>Separation of Courier vs. Buyer Fraud: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 dirty="0"/>
              <a:t>Uses Doorstep OTP and pickup timestamp telemetry, ensuring honest buyers are never penalized for courier </a:t>
            </a:r>
            <a:r>
              <a:rPr lang="en-US" altLang="en-US" sz="1800"/>
              <a:t>pilferage.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algn="just"/>
            <a:r>
              <a:rPr lang="en-US" altLang="en-US" sz="1800" b="1" dirty="0"/>
              <a:t>100% Transparent &amp; Dispute-Proof: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 dirty="0"/>
              <a:t>Every automated flag, merchant override, and policy directive is recorded in an Immutable Audit Log for dispute resolution.</a:t>
            </a:r>
          </a:p>
        </p:txBody>
      </p:sp>
      <p:pic>
        <p:nvPicPr>
          <p:cNvPr id="6" name="Content Placeholder 5" descr="Screenshot (181)"/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6705600" y="1981200"/>
            <a:ext cx="5219065" cy="30861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1029315" y="65557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object 10">
            <a:extLst>
              <a:ext uri="{FF2B5EF4-FFF2-40B4-BE49-F238E27FC236}">
                <a16:creationId xmlns:a16="http://schemas.microsoft.com/office/drawing/2014/main" id="{559F5A9A-D190-A988-8078-8A81ADB94419}"/>
              </a:ext>
            </a:extLst>
          </p:cNvPr>
          <p:cNvGrpSpPr/>
          <p:nvPr/>
        </p:nvGrpSpPr>
        <p:grpSpPr>
          <a:xfrm>
            <a:off x="646946" y="4094479"/>
            <a:ext cx="5350510" cy="1918335"/>
            <a:chOff x="6177339" y="1980564"/>
            <a:chExt cx="5350510" cy="1918335"/>
          </a:xfrm>
        </p:grpSpPr>
        <p:sp>
          <p:nvSpPr>
            <p:cNvPr id="32" name="object 11">
              <a:extLst>
                <a:ext uri="{FF2B5EF4-FFF2-40B4-BE49-F238E27FC236}">
                  <a16:creationId xmlns:a16="http://schemas.microsoft.com/office/drawing/2014/main" id="{9E17768C-8852-C968-A29F-693593A484C2}"/>
                </a:ext>
              </a:extLst>
            </p:cNvPr>
            <p:cNvSpPr/>
            <p:nvPr/>
          </p:nvSpPr>
          <p:spPr>
            <a:xfrm>
              <a:off x="6194424" y="2264409"/>
              <a:ext cx="5333365" cy="1634489"/>
            </a:xfrm>
            <a:custGeom>
              <a:avLst/>
              <a:gdLst/>
              <a:ahLst/>
              <a:cxnLst/>
              <a:rect l="l" t="t" r="r" b="b"/>
              <a:pathLst>
                <a:path w="5333365" h="1634489">
                  <a:moveTo>
                    <a:pt x="5231765" y="0"/>
                  </a:moveTo>
                  <a:lnTo>
                    <a:pt x="101600" y="0"/>
                  </a:lnTo>
                  <a:lnTo>
                    <a:pt x="61595" y="7619"/>
                  </a:lnTo>
                  <a:lnTo>
                    <a:pt x="29845" y="29210"/>
                  </a:lnTo>
                  <a:lnTo>
                    <a:pt x="7620" y="61594"/>
                  </a:lnTo>
                  <a:lnTo>
                    <a:pt x="0" y="100964"/>
                  </a:lnTo>
                  <a:lnTo>
                    <a:pt x="0" y="1568450"/>
                  </a:lnTo>
                  <a:lnTo>
                    <a:pt x="19050" y="1615439"/>
                  </a:lnTo>
                  <a:lnTo>
                    <a:pt x="66039" y="1634489"/>
                  </a:lnTo>
                  <a:lnTo>
                    <a:pt x="5267325" y="1634489"/>
                  </a:lnTo>
                  <a:lnTo>
                    <a:pt x="5293359" y="1629409"/>
                  </a:lnTo>
                  <a:lnTo>
                    <a:pt x="5314315" y="1615439"/>
                  </a:lnTo>
                  <a:lnTo>
                    <a:pt x="5328284" y="1594484"/>
                  </a:lnTo>
                  <a:lnTo>
                    <a:pt x="5333365" y="1568450"/>
                  </a:lnTo>
                  <a:lnTo>
                    <a:pt x="5333365" y="100964"/>
                  </a:lnTo>
                  <a:lnTo>
                    <a:pt x="5325109" y="61594"/>
                  </a:lnTo>
                  <a:lnTo>
                    <a:pt x="5303520" y="29210"/>
                  </a:lnTo>
                  <a:lnTo>
                    <a:pt x="5271770" y="7619"/>
                  </a:lnTo>
                  <a:lnTo>
                    <a:pt x="5231765" y="0"/>
                  </a:lnTo>
                  <a:close/>
                </a:path>
              </a:pathLst>
            </a:custGeom>
            <a:solidFill>
              <a:srgbClr val="091729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2">
              <a:extLst>
                <a:ext uri="{FF2B5EF4-FFF2-40B4-BE49-F238E27FC236}">
                  <a16:creationId xmlns:a16="http://schemas.microsoft.com/office/drawing/2014/main" id="{656EC755-761F-85D2-933A-B065F024756E}"/>
                </a:ext>
              </a:extLst>
            </p:cNvPr>
            <p:cNvSpPr/>
            <p:nvPr/>
          </p:nvSpPr>
          <p:spPr>
            <a:xfrm>
              <a:off x="6202679" y="232600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0" y="635"/>
                  </a:moveTo>
                  <a:lnTo>
                    <a:pt x="635" y="0"/>
                  </a:lnTo>
                </a:path>
              </a:pathLst>
            </a:custGeom>
            <a:ln w="50680"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3">
              <a:extLst>
                <a:ext uri="{FF2B5EF4-FFF2-40B4-BE49-F238E27FC236}">
                  <a16:creationId xmlns:a16="http://schemas.microsoft.com/office/drawing/2014/main" id="{2E7A23C1-8EAC-FB2A-FB11-C53FB0C167D3}"/>
                </a:ext>
              </a:extLst>
            </p:cNvPr>
            <p:cNvSpPr/>
            <p:nvPr/>
          </p:nvSpPr>
          <p:spPr>
            <a:xfrm>
              <a:off x="6194424" y="1980564"/>
              <a:ext cx="5333365" cy="568325"/>
            </a:xfrm>
            <a:custGeom>
              <a:avLst/>
              <a:gdLst/>
              <a:ahLst/>
              <a:cxnLst/>
              <a:rect l="l" t="t" r="r" b="b"/>
              <a:pathLst>
                <a:path w="5333365" h="568325">
                  <a:moveTo>
                    <a:pt x="2670175" y="0"/>
                  </a:moveTo>
                  <a:lnTo>
                    <a:pt x="2623820" y="3810"/>
                  </a:lnTo>
                  <a:lnTo>
                    <a:pt x="2580004" y="14605"/>
                  </a:lnTo>
                  <a:lnTo>
                    <a:pt x="2538729" y="31750"/>
                  </a:lnTo>
                  <a:lnTo>
                    <a:pt x="2501265" y="55245"/>
                  </a:lnTo>
                  <a:lnTo>
                    <a:pt x="2468245" y="83185"/>
                  </a:lnTo>
                  <a:lnTo>
                    <a:pt x="2439670" y="116205"/>
                  </a:lnTo>
                  <a:lnTo>
                    <a:pt x="2416175" y="153670"/>
                  </a:lnTo>
                  <a:lnTo>
                    <a:pt x="2399029" y="194310"/>
                  </a:lnTo>
                  <a:lnTo>
                    <a:pt x="2388234" y="238125"/>
                  </a:lnTo>
                  <a:lnTo>
                    <a:pt x="2386329" y="259080"/>
                  </a:lnTo>
                  <a:lnTo>
                    <a:pt x="66039" y="259080"/>
                  </a:lnTo>
                  <a:lnTo>
                    <a:pt x="40004" y="264160"/>
                  </a:lnTo>
                  <a:lnTo>
                    <a:pt x="19050" y="278130"/>
                  </a:lnTo>
                  <a:lnTo>
                    <a:pt x="5079" y="299085"/>
                  </a:lnTo>
                  <a:lnTo>
                    <a:pt x="0" y="324485"/>
                  </a:lnTo>
                  <a:lnTo>
                    <a:pt x="0" y="360045"/>
                  </a:lnTo>
                  <a:lnTo>
                    <a:pt x="2395854" y="360045"/>
                  </a:lnTo>
                  <a:lnTo>
                    <a:pt x="2399029" y="374014"/>
                  </a:lnTo>
                  <a:lnTo>
                    <a:pt x="2416175" y="414655"/>
                  </a:lnTo>
                  <a:lnTo>
                    <a:pt x="2439670" y="452120"/>
                  </a:lnTo>
                  <a:lnTo>
                    <a:pt x="2468245" y="485139"/>
                  </a:lnTo>
                  <a:lnTo>
                    <a:pt x="2501265" y="513714"/>
                  </a:lnTo>
                  <a:lnTo>
                    <a:pt x="2538729" y="536575"/>
                  </a:lnTo>
                  <a:lnTo>
                    <a:pt x="2580004" y="553720"/>
                  </a:lnTo>
                  <a:lnTo>
                    <a:pt x="2623820" y="564514"/>
                  </a:lnTo>
                  <a:lnTo>
                    <a:pt x="2670175" y="568325"/>
                  </a:lnTo>
                  <a:lnTo>
                    <a:pt x="2715895" y="564514"/>
                  </a:lnTo>
                  <a:lnTo>
                    <a:pt x="2760345" y="553720"/>
                  </a:lnTo>
                  <a:lnTo>
                    <a:pt x="2800984" y="536575"/>
                  </a:lnTo>
                  <a:lnTo>
                    <a:pt x="2838450" y="513714"/>
                  </a:lnTo>
                  <a:lnTo>
                    <a:pt x="2871470" y="485139"/>
                  </a:lnTo>
                  <a:lnTo>
                    <a:pt x="2900045" y="452120"/>
                  </a:lnTo>
                  <a:lnTo>
                    <a:pt x="2923540" y="414655"/>
                  </a:lnTo>
                  <a:lnTo>
                    <a:pt x="2940684" y="374014"/>
                  </a:lnTo>
                  <a:lnTo>
                    <a:pt x="2944495" y="360045"/>
                  </a:lnTo>
                  <a:lnTo>
                    <a:pt x="5333365" y="360045"/>
                  </a:lnTo>
                  <a:lnTo>
                    <a:pt x="5333365" y="324485"/>
                  </a:lnTo>
                  <a:lnTo>
                    <a:pt x="5328284" y="299085"/>
                  </a:lnTo>
                  <a:lnTo>
                    <a:pt x="5314315" y="278130"/>
                  </a:lnTo>
                  <a:lnTo>
                    <a:pt x="5293359" y="264160"/>
                  </a:lnTo>
                  <a:lnTo>
                    <a:pt x="5267325" y="259080"/>
                  </a:lnTo>
                  <a:lnTo>
                    <a:pt x="2953384" y="259080"/>
                  </a:lnTo>
                  <a:lnTo>
                    <a:pt x="2951479" y="238125"/>
                  </a:lnTo>
                  <a:lnTo>
                    <a:pt x="2940684" y="194310"/>
                  </a:lnTo>
                  <a:lnTo>
                    <a:pt x="2923540" y="153670"/>
                  </a:lnTo>
                  <a:lnTo>
                    <a:pt x="2900045" y="116205"/>
                  </a:lnTo>
                  <a:lnTo>
                    <a:pt x="2871470" y="83185"/>
                  </a:lnTo>
                  <a:lnTo>
                    <a:pt x="2838450" y="55245"/>
                  </a:lnTo>
                  <a:lnTo>
                    <a:pt x="2800984" y="31750"/>
                  </a:lnTo>
                  <a:lnTo>
                    <a:pt x="2760345" y="14605"/>
                  </a:lnTo>
                  <a:lnTo>
                    <a:pt x="2715895" y="3810"/>
                  </a:lnTo>
                  <a:lnTo>
                    <a:pt x="2670175" y="0"/>
                  </a:lnTo>
                  <a:close/>
                </a:path>
              </a:pathLst>
            </a:custGeom>
            <a:solidFill>
              <a:srgbClr val="FFBD00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10">
            <a:extLst>
              <a:ext uri="{FF2B5EF4-FFF2-40B4-BE49-F238E27FC236}">
                <a16:creationId xmlns:a16="http://schemas.microsoft.com/office/drawing/2014/main" id="{6B192FB7-FA3E-B1B4-531A-DC254CCD9048}"/>
              </a:ext>
            </a:extLst>
          </p:cNvPr>
          <p:cNvGrpSpPr/>
          <p:nvPr/>
        </p:nvGrpSpPr>
        <p:grpSpPr>
          <a:xfrm>
            <a:off x="647067" y="1950084"/>
            <a:ext cx="5350510" cy="1918335"/>
            <a:chOff x="6177339" y="1980564"/>
            <a:chExt cx="5350510" cy="1918335"/>
          </a:xfrm>
        </p:grpSpPr>
        <p:sp>
          <p:nvSpPr>
            <p:cNvPr id="28" name="object 11">
              <a:extLst>
                <a:ext uri="{FF2B5EF4-FFF2-40B4-BE49-F238E27FC236}">
                  <a16:creationId xmlns:a16="http://schemas.microsoft.com/office/drawing/2014/main" id="{6EB55B0A-1372-06C7-1B07-BACA1ECDF90C}"/>
                </a:ext>
              </a:extLst>
            </p:cNvPr>
            <p:cNvSpPr/>
            <p:nvPr/>
          </p:nvSpPr>
          <p:spPr>
            <a:xfrm>
              <a:off x="6194424" y="2264409"/>
              <a:ext cx="5333365" cy="1634489"/>
            </a:xfrm>
            <a:custGeom>
              <a:avLst/>
              <a:gdLst/>
              <a:ahLst/>
              <a:cxnLst/>
              <a:rect l="l" t="t" r="r" b="b"/>
              <a:pathLst>
                <a:path w="5333365" h="1634489">
                  <a:moveTo>
                    <a:pt x="5231765" y="0"/>
                  </a:moveTo>
                  <a:lnTo>
                    <a:pt x="101600" y="0"/>
                  </a:lnTo>
                  <a:lnTo>
                    <a:pt x="61595" y="7619"/>
                  </a:lnTo>
                  <a:lnTo>
                    <a:pt x="29845" y="29210"/>
                  </a:lnTo>
                  <a:lnTo>
                    <a:pt x="7620" y="61594"/>
                  </a:lnTo>
                  <a:lnTo>
                    <a:pt x="0" y="100964"/>
                  </a:lnTo>
                  <a:lnTo>
                    <a:pt x="0" y="1568450"/>
                  </a:lnTo>
                  <a:lnTo>
                    <a:pt x="19050" y="1615439"/>
                  </a:lnTo>
                  <a:lnTo>
                    <a:pt x="66039" y="1634489"/>
                  </a:lnTo>
                  <a:lnTo>
                    <a:pt x="5267325" y="1634489"/>
                  </a:lnTo>
                  <a:lnTo>
                    <a:pt x="5293359" y="1629409"/>
                  </a:lnTo>
                  <a:lnTo>
                    <a:pt x="5314315" y="1615439"/>
                  </a:lnTo>
                  <a:lnTo>
                    <a:pt x="5328284" y="1594484"/>
                  </a:lnTo>
                  <a:lnTo>
                    <a:pt x="5333365" y="1568450"/>
                  </a:lnTo>
                  <a:lnTo>
                    <a:pt x="5333365" y="100964"/>
                  </a:lnTo>
                  <a:lnTo>
                    <a:pt x="5325109" y="61594"/>
                  </a:lnTo>
                  <a:lnTo>
                    <a:pt x="5303520" y="29210"/>
                  </a:lnTo>
                  <a:lnTo>
                    <a:pt x="5271770" y="7619"/>
                  </a:lnTo>
                  <a:lnTo>
                    <a:pt x="5231765" y="0"/>
                  </a:lnTo>
                  <a:close/>
                </a:path>
              </a:pathLst>
            </a:custGeom>
            <a:solidFill>
              <a:srgbClr val="091729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2">
              <a:extLst>
                <a:ext uri="{FF2B5EF4-FFF2-40B4-BE49-F238E27FC236}">
                  <a16:creationId xmlns:a16="http://schemas.microsoft.com/office/drawing/2014/main" id="{47A48E03-4DFE-A24E-2D1B-AA01A4876739}"/>
                </a:ext>
              </a:extLst>
            </p:cNvPr>
            <p:cNvSpPr/>
            <p:nvPr/>
          </p:nvSpPr>
          <p:spPr>
            <a:xfrm>
              <a:off x="6202679" y="232600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0" y="635"/>
                  </a:moveTo>
                  <a:lnTo>
                    <a:pt x="635" y="0"/>
                  </a:lnTo>
                </a:path>
              </a:pathLst>
            </a:custGeom>
            <a:ln w="50680"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3">
              <a:extLst>
                <a:ext uri="{FF2B5EF4-FFF2-40B4-BE49-F238E27FC236}">
                  <a16:creationId xmlns:a16="http://schemas.microsoft.com/office/drawing/2014/main" id="{07DDA39C-D527-88D2-FD40-50AE94CB9123}"/>
                </a:ext>
              </a:extLst>
            </p:cNvPr>
            <p:cNvSpPr/>
            <p:nvPr/>
          </p:nvSpPr>
          <p:spPr>
            <a:xfrm>
              <a:off x="6194424" y="1980564"/>
              <a:ext cx="5333365" cy="568325"/>
            </a:xfrm>
            <a:custGeom>
              <a:avLst/>
              <a:gdLst/>
              <a:ahLst/>
              <a:cxnLst/>
              <a:rect l="l" t="t" r="r" b="b"/>
              <a:pathLst>
                <a:path w="5333365" h="568325">
                  <a:moveTo>
                    <a:pt x="2670175" y="0"/>
                  </a:moveTo>
                  <a:lnTo>
                    <a:pt x="2623820" y="3810"/>
                  </a:lnTo>
                  <a:lnTo>
                    <a:pt x="2580004" y="14605"/>
                  </a:lnTo>
                  <a:lnTo>
                    <a:pt x="2538729" y="31750"/>
                  </a:lnTo>
                  <a:lnTo>
                    <a:pt x="2501265" y="55245"/>
                  </a:lnTo>
                  <a:lnTo>
                    <a:pt x="2468245" y="83185"/>
                  </a:lnTo>
                  <a:lnTo>
                    <a:pt x="2439670" y="116205"/>
                  </a:lnTo>
                  <a:lnTo>
                    <a:pt x="2416175" y="153670"/>
                  </a:lnTo>
                  <a:lnTo>
                    <a:pt x="2399029" y="194310"/>
                  </a:lnTo>
                  <a:lnTo>
                    <a:pt x="2388234" y="238125"/>
                  </a:lnTo>
                  <a:lnTo>
                    <a:pt x="2386329" y="259080"/>
                  </a:lnTo>
                  <a:lnTo>
                    <a:pt x="66039" y="259080"/>
                  </a:lnTo>
                  <a:lnTo>
                    <a:pt x="40004" y="264160"/>
                  </a:lnTo>
                  <a:lnTo>
                    <a:pt x="19050" y="278130"/>
                  </a:lnTo>
                  <a:lnTo>
                    <a:pt x="5079" y="299085"/>
                  </a:lnTo>
                  <a:lnTo>
                    <a:pt x="0" y="324485"/>
                  </a:lnTo>
                  <a:lnTo>
                    <a:pt x="0" y="360045"/>
                  </a:lnTo>
                  <a:lnTo>
                    <a:pt x="2395854" y="360045"/>
                  </a:lnTo>
                  <a:lnTo>
                    <a:pt x="2399029" y="374014"/>
                  </a:lnTo>
                  <a:lnTo>
                    <a:pt x="2416175" y="414655"/>
                  </a:lnTo>
                  <a:lnTo>
                    <a:pt x="2439670" y="452120"/>
                  </a:lnTo>
                  <a:lnTo>
                    <a:pt x="2468245" y="485139"/>
                  </a:lnTo>
                  <a:lnTo>
                    <a:pt x="2501265" y="513714"/>
                  </a:lnTo>
                  <a:lnTo>
                    <a:pt x="2538729" y="536575"/>
                  </a:lnTo>
                  <a:lnTo>
                    <a:pt x="2580004" y="553720"/>
                  </a:lnTo>
                  <a:lnTo>
                    <a:pt x="2623820" y="564514"/>
                  </a:lnTo>
                  <a:lnTo>
                    <a:pt x="2670175" y="568325"/>
                  </a:lnTo>
                  <a:lnTo>
                    <a:pt x="2715895" y="564514"/>
                  </a:lnTo>
                  <a:lnTo>
                    <a:pt x="2760345" y="553720"/>
                  </a:lnTo>
                  <a:lnTo>
                    <a:pt x="2800984" y="536575"/>
                  </a:lnTo>
                  <a:lnTo>
                    <a:pt x="2838450" y="513714"/>
                  </a:lnTo>
                  <a:lnTo>
                    <a:pt x="2871470" y="485139"/>
                  </a:lnTo>
                  <a:lnTo>
                    <a:pt x="2900045" y="452120"/>
                  </a:lnTo>
                  <a:lnTo>
                    <a:pt x="2923540" y="414655"/>
                  </a:lnTo>
                  <a:lnTo>
                    <a:pt x="2940684" y="374014"/>
                  </a:lnTo>
                  <a:lnTo>
                    <a:pt x="2944495" y="360045"/>
                  </a:lnTo>
                  <a:lnTo>
                    <a:pt x="5333365" y="360045"/>
                  </a:lnTo>
                  <a:lnTo>
                    <a:pt x="5333365" y="324485"/>
                  </a:lnTo>
                  <a:lnTo>
                    <a:pt x="5328284" y="299085"/>
                  </a:lnTo>
                  <a:lnTo>
                    <a:pt x="5314315" y="278130"/>
                  </a:lnTo>
                  <a:lnTo>
                    <a:pt x="5293359" y="264160"/>
                  </a:lnTo>
                  <a:lnTo>
                    <a:pt x="5267325" y="259080"/>
                  </a:lnTo>
                  <a:lnTo>
                    <a:pt x="2953384" y="259080"/>
                  </a:lnTo>
                  <a:lnTo>
                    <a:pt x="2951479" y="238125"/>
                  </a:lnTo>
                  <a:lnTo>
                    <a:pt x="2940684" y="194310"/>
                  </a:lnTo>
                  <a:lnTo>
                    <a:pt x="2923540" y="153670"/>
                  </a:lnTo>
                  <a:lnTo>
                    <a:pt x="2900045" y="116205"/>
                  </a:lnTo>
                  <a:lnTo>
                    <a:pt x="2871470" y="83185"/>
                  </a:lnTo>
                  <a:lnTo>
                    <a:pt x="2838450" y="55245"/>
                  </a:lnTo>
                  <a:lnTo>
                    <a:pt x="2800984" y="31750"/>
                  </a:lnTo>
                  <a:lnTo>
                    <a:pt x="2760345" y="14605"/>
                  </a:lnTo>
                  <a:lnTo>
                    <a:pt x="2715895" y="3810"/>
                  </a:lnTo>
                  <a:lnTo>
                    <a:pt x="2670175" y="0"/>
                  </a:lnTo>
                  <a:close/>
                </a:path>
              </a:pathLst>
            </a:custGeom>
            <a:solidFill>
              <a:srgbClr val="FFBD00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8716" y="1089405"/>
            <a:ext cx="336550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spc="-130" dirty="0"/>
              <a:t>FUTURE</a:t>
            </a:r>
            <a:r>
              <a:rPr sz="3700" spc="-75" dirty="0"/>
              <a:t> </a:t>
            </a:r>
            <a:r>
              <a:rPr sz="3700" spc="-110" dirty="0"/>
              <a:t>SCOPE</a:t>
            </a:r>
            <a:endParaRPr sz="3700"/>
          </a:p>
        </p:txBody>
      </p:sp>
      <p:sp>
        <p:nvSpPr>
          <p:cNvPr id="8" name="object 8"/>
          <p:cNvSpPr txBox="1"/>
          <p:nvPr/>
        </p:nvSpPr>
        <p:spPr>
          <a:xfrm>
            <a:off x="3277870" y="2100199"/>
            <a:ext cx="1079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75" dirty="0">
                <a:latin typeface="Palatino Linotype" panose="02040502050505030304"/>
                <a:cs typeface="Palatino Linotype" panose="02040502050505030304"/>
              </a:rPr>
              <a:t>1</a:t>
            </a:r>
            <a:endParaRPr sz="175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3600" y="2662555"/>
            <a:ext cx="4874895" cy="979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Mobile</a:t>
            </a:r>
            <a:r>
              <a:rPr sz="1850" spc="-6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Edge</a:t>
            </a:r>
            <a:r>
              <a:rPr sz="1850" spc="-5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spc="-1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Computer</a:t>
            </a:r>
            <a:r>
              <a:rPr sz="1850" spc="-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spc="-1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Vision</a:t>
            </a:r>
            <a:endParaRPr sz="1850" dirty="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On-device</a:t>
            </a:r>
            <a:r>
              <a:rPr sz="1450" spc="7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AI</a:t>
            </a:r>
            <a:r>
              <a:rPr sz="1450" spc="8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scans</a:t>
            </a:r>
            <a:r>
              <a:rPr sz="1450" spc="8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fabric</a:t>
            </a:r>
            <a:r>
              <a:rPr sz="1450" spc="5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texture</a:t>
            </a:r>
            <a:r>
              <a:rPr sz="1450" spc="9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450" spc="6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tag</a:t>
            </a:r>
            <a:r>
              <a:rPr sz="1450" spc="6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integrity</a:t>
            </a:r>
            <a:r>
              <a:rPr sz="1450" spc="8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at</a:t>
            </a:r>
            <a:r>
              <a:rPr sz="1450" spc="7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spc="-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the </a:t>
            </a:r>
            <a:r>
              <a:rPr sz="145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doorstep.</a:t>
            </a:r>
            <a:endParaRPr sz="1450" dirty="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77339" y="1980564"/>
            <a:ext cx="5350510" cy="1918335"/>
            <a:chOff x="6177339" y="1980564"/>
            <a:chExt cx="5350510" cy="1918335"/>
          </a:xfrm>
        </p:grpSpPr>
        <p:sp>
          <p:nvSpPr>
            <p:cNvPr id="11" name="object 11"/>
            <p:cNvSpPr/>
            <p:nvPr/>
          </p:nvSpPr>
          <p:spPr>
            <a:xfrm>
              <a:off x="6194424" y="2264409"/>
              <a:ext cx="5333365" cy="1634489"/>
            </a:xfrm>
            <a:custGeom>
              <a:avLst/>
              <a:gdLst/>
              <a:ahLst/>
              <a:cxnLst/>
              <a:rect l="l" t="t" r="r" b="b"/>
              <a:pathLst>
                <a:path w="5333365" h="1634489">
                  <a:moveTo>
                    <a:pt x="5231765" y="0"/>
                  </a:moveTo>
                  <a:lnTo>
                    <a:pt x="101600" y="0"/>
                  </a:lnTo>
                  <a:lnTo>
                    <a:pt x="61595" y="7619"/>
                  </a:lnTo>
                  <a:lnTo>
                    <a:pt x="29845" y="29210"/>
                  </a:lnTo>
                  <a:lnTo>
                    <a:pt x="7620" y="61594"/>
                  </a:lnTo>
                  <a:lnTo>
                    <a:pt x="0" y="100964"/>
                  </a:lnTo>
                  <a:lnTo>
                    <a:pt x="0" y="1568450"/>
                  </a:lnTo>
                  <a:lnTo>
                    <a:pt x="19050" y="1615439"/>
                  </a:lnTo>
                  <a:lnTo>
                    <a:pt x="66039" y="1634489"/>
                  </a:lnTo>
                  <a:lnTo>
                    <a:pt x="5267325" y="1634489"/>
                  </a:lnTo>
                  <a:lnTo>
                    <a:pt x="5293359" y="1629409"/>
                  </a:lnTo>
                  <a:lnTo>
                    <a:pt x="5314315" y="1615439"/>
                  </a:lnTo>
                  <a:lnTo>
                    <a:pt x="5328284" y="1594484"/>
                  </a:lnTo>
                  <a:lnTo>
                    <a:pt x="5333365" y="1568450"/>
                  </a:lnTo>
                  <a:lnTo>
                    <a:pt x="5333365" y="100964"/>
                  </a:lnTo>
                  <a:lnTo>
                    <a:pt x="5325109" y="61594"/>
                  </a:lnTo>
                  <a:lnTo>
                    <a:pt x="5303520" y="29210"/>
                  </a:lnTo>
                  <a:lnTo>
                    <a:pt x="5271770" y="7619"/>
                  </a:lnTo>
                  <a:lnTo>
                    <a:pt x="5231765" y="0"/>
                  </a:lnTo>
                  <a:close/>
                </a:path>
              </a:pathLst>
            </a:custGeom>
            <a:solidFill>
              <a:srgbClr val="091729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02679" y="232600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0" y="635"/>
                  </a:moveTo>
                  <a:lnTo>
                    <a:pt x="635" y="0"/>
                  </a:lnTo>
                </a:path>
              </a:pathLst>
            </a:custGeom>
            <a:ln w="50680"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94424" y="1980564"/>
              <a:ext cx="5333365" cy="568325"/>
            </a:xfrm>
            <a:custGeom>
              <a:avLst/>
              <a:gdLst/>
              <a:ahLst/>
              <a:cxnLst/>
              <a:rect l="l" t="t" r="r" b="b"/>
              <a:pathLst>
                <a:path w="5333365" h="568325">
                  <a:moveTo>
                    <a:pt x="2670175" y="0"/>
                  </a:moveTo>
                  <a:lnTo>
                    <a:pt x="2623820" y="3810"/>
                  </a:lnTo>
                  <a:lnTo>
                    <a:pt x="2580004" y="14605"/>
                  </a:lnTo>
                  <a:lnTo>
                    <a:pt x="2538729" y="31750"/>
                  </a:lnTo>
                  <a:lnTo>
                    <a:pt x="2501265" y="55245"/>
                  </a:lnTo>
                  <a:lnTo>
                    <a:pt x="2468245" y="83185"/>
                  </a:lnTo>
                  <a:lnTo>
                    <a:pt x="2439670" y="116205"/>
                  </a:lnTo>
                  <a:lnTo>
                    <a:pt x="2416175" y="153670"/>
                  </a:lnTo>
                  <a:lnTo>
                    <a:pt x="2399029" y="194310"/>
                  </a:lnTo>
                  <a:lnTo>
                    <a:pt x="2388234" y="238125"/>
                  </a:lnTo>
                  <a:lnTo>
                    <a:pt x="2386329" y="259080"/>
                  </a:lnTo>
                  <a:lnTo>
                    <a:pt x="66039" y="259080"/>
                  </a:lnTo>
                  <a:lnTo>
                    <a:pt x="40004" y="264160"/>
                  </a:lnTo>
                  <a:lnTo>
                    <a:pt x="19050" y="278130"/>
                  </a:lnTo>
                  <a:lnTo>
                    <a:pt x="5079" y="299085"/>
                  </a:lnTo>
                  <a:lnTo>
                    <a:pt x="0" y="324485"/>
                  </a:lnTo>
                  <a:lnTo>
                    <a:pt x="0" y="360045"/>
                  </a:lnTo>
                  <a:lnTo>
                    <a:pt x="2395854" y="360045"/>
                  </a:lnTo>
                  <a:lnTo>
                    <a:pt x="2399029" y="374014"/>
                  </a:lnTo>
                  <a:lnTo>
                    <a:pt x="2416175" y="414655"/>
                  </a:lnTo>
                  <a:lnTo>
                    <a:pt x="2439670" y="452120"/>
                  </a:lnTo>
                  <a:lnTo>
                    <a:pt x="2468245" y="485139"/>
                  </a:lnTo>
                  <a:lnTo>
                    <a:pt x="2501265" y="513714"/>
                  </a:lnTo>
                  <a:lnTo>
                    <a:pt x="2538729" y="536575"/>
                  </a:lnTo>
                  <a:lnTo>
                    <a:pt x="2580004" y="553720"/>
                  </a:lnTo>
                  <a:lnTo>
                    <a:pt x="2623820" y="564514"/>
                  </a:lnTo>
                  <a:lnTo>
                    <a:pt x="2670175" y="568325"/>
                  </a:lnTo>
                  <a:lnTo>
                    <a:pt x="2715895" y="564514"/>
                  </a:lnTo>
                  <a:lnTo>
                    <a:pt x="2760345" y="553720"/>
                  </a:lnTo>
                  <a:lnTo>
                    <a:pt x="2800984" y="536575"/>
                  </a:lnTo>
                  <a:lnTo>
                    <a:pt x="2838450" y="513714"/>
                  </a:lnTo>
                  <a:lnTo>
                    <a:pt x="2871470" y="485139"/>
                  </a:lnTo>
                  <a:lnTo>
                    <a:pt x="2900045" y="452120"/>
                  </a:lnTo>
                  <a:lnTo>
                    <a:pt x="2923540" y="414655"/>
                  </a:lnTo>
                  <a:lnTo>
                    <a:pt x="2940684" y="374014"/>
                  </a:lnTo>
                  <a:lnTo>
                    <a:pt x="2944495" y="360045"/>
                  </a:lnTo>
                  <a:lnTo>
                    <a:pt x="5333365" y="360045"/>
                  </a:lnTo>
                  <a:lnTo>
                    <a:pt x="5333365" y="324485"/>
                  </a:lnTo>
                  <a:lnTo>
                    <a:pt x="5328284" y="299085"/>
                  </a:lnTo>
                  <a:lnTo>
                    <a:pt x="5314315" y="278130"/>
                  </a:lnTo>
                  <a:lnTo>
                    <a:pt x="5293359" y="264160"/>
                  </a:lnTo>
                  <a:lnTo>
                    <a:pt x="5267325" y="259080"/>
                  </a:lnTo>
                  <a:lnTo>
                    <a:pt x="2953384" y="259080"/>
                  </a:lnTo>
                  <a:lnTo>
                    <a:pt x="2951479" y="238125"/>
                  </a:lnTo>
                  <a:lnTo>
                    <a:pt x="2940684" y="194310"/>
                  </a:lnTo>
                  <a:lnTo>
                    <a:pt x="2923540" y="153670"/>
                  </a:lnTo>
                  <a:lnTo>
                    <a:pt x="2900045" y="116205"/>
                  </a:lnTo>
                  <a:lnTo>
                    <a:pt x="2871470" y="83185"/>
                  </a:lnTo>
                  <a:lnTo>
                    <a:pt x="2838450" y="55245"/>
                  </a:lnTo>
                  <a:lnTo>
                    <a:pt x="2800984" y="31750"/>
                  </a:lnTo>
                  <a:lnTo>
                    <a:pt x="2760345" y="14605"/>
                  </a:lnTo>
                  <a:lnTo>
                    <a:pt x="2715895" y="3810"/>
                  </a:lnTo>
                  <a:lnTo>
                    <a:pt x="2670175" y="0"/>
                  </a:lnTo>
                  <a:close/>
                </a:path>
              </a:pathLst>
            </a:custGeom>
            <a:solidFill>
              <a:srgbClr val="FFBD00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796908" y="2100199"/>
            <a:ext cx="13017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Palatino Linotype" panose="02040502050505030304"/>
                <a:cs typeface="Palatino Linotype" panose="02040502050505030304"/>
              </a:rPr>
              <a:t>2</a:t>
            </a:r>
            <a:endParaRPr sz="175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93307" y="2662555"/>
            <a:ext cx="4864735" cy="979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Consortium</a:t>
            </a:r>
            <a:r>
              <a:rPr sz="1850" spc="-2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Fraud</a:t>
            </a:r>
            <a:r>
              <a:rPr sz="1850" spc="-1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spc="-2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Graph</a:t>
            </a:r>
            <a:endParaRPr sz="1850" dirty="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Privacy-preserving</a:t>
            </a:r>
            <a:r>
              <a:rPr sz="1450" spc="17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network</a:t>
            </a:r>
            <a:r>
              <a:rPr sz="1450" spc="254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flags</a:t>
            </a:r>
            <a:r>
              <a:rPr sz="1450" spc="21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serial</a:t>
            </a:r>
            <a:r>
              <a:rPr sz="1450" spc="2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fraudsters</a:t>
            </a:r>
            <a:r>
              <a:rPr sz="1450" spc="22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across merchants.</a:t>
            </a:r>
            <a:endParaRPr sz="145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68726" y="4215765"/>
            <a:ext cx="12509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Palatino Linotype" panose="02040502050505030304"/>
                <a:cs typeface="Palatino Linotype" panose="02040502050505030304"/>
              </a:rPr>
              <a:t>3</a:t>
            </a:r>
            <a:endParaRPr sz="175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3600" y="4776596"/>
            <a:ext cx="3651885" cy="972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Chrome</a:t>
            </a:r>
            <a:r>
              <a:rPr sz="1850" spc="-6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Ops</a:t>
            </a:r>
            <a:r>
              <a:rPr sz="1850" spc="-4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spc="-1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Extension</a:t>
            </a:r>
            <a:endParaRPr sz="185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32000"/>
              </a:lnSpc>
              <a:spcBef>
                <a:spcPts val="655"/>
              </a:spcBef>
            </a:pP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Risk</a:t>
            </a:r>
            <a:r>
              <a:rPr sz="1450" spc="2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badges</a:t>
            </a:r>
            <a:r>
              <a:rPr sz="1450" spc="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&amp;</a:t>
            </a:r>
            <a:r>
              <a:rPr sz="1450" spc="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1-click</a:t>
            </a:r>
            <a:r>
              <a:rPr sz="1450" spc="1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triage</a:t>
            </a:r>
            <a:r>
              <a:rPr sz="1450" spc="6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inside</a:t>
            </a:r>
            <a:r>
              <a:rPr sz="1450" spc="4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Shopify,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WooCommerce,</a:t>
            </a:r>
            <a:r>
              <a:rPr sz="1450" spc="47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Magento.</a:t>
            </a:r>
            <a:endParaRPr sz="145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77339" y="4094479"/>
            <a:ext cx="5350510" cy="1918970"/>
            <a:chOff x="6177339" y="4094479"/>
            <a:chExt cx="5350510" cy="1918970"/>
          </a:xfrm>
        </p:grpSpPr>
        <p:sp>
          <p:nvSpPr>
            <p:cNvPr id="23" name="object 23"/>
            <p:cNvSpPr/>
            <p:nvPr/>
          </p:nvSpPr>
          <p:spPr>
            <a:xfrm>
              <a:off x="6194424" y="4378324"/>
              <a:ext cx="5333365" cy="1635125"/>
            </a:xfrm>
            <a:custGeom>
              <a:avLst/>
              <a:gdLst/>
              <a:ahLst/>
              <a:cxnLst/>
              <a:rect l="l" t="t" r="r" b="b"/>
              <a:pathLst>
                <a:path w="5333365" h="1635125">
                  <a:moveTo>
                    <a:pt x="5231765" y="0"/>
                  </a:moveTo>
                  <a:lnTo>
                    <a:pt x="101600" y="0"/>
                  </a:lnTo>
                  <a:lnTo>
                    <a:pt x="61595" y="8255"/>
                  </a:lnTo>
                  <a:lnTo>
                    <a:pt x="29845" y="29844"/>
                  </a:lnTo>
                  <a:lnTo>
                    <a:pt x="7620" y="62230"/>
                  </a:lnTo>
                  <a:lnTo>
                    <a:pt x="0" y="100964"/>
                  </a:lnTo>
                  <a:lnTo>
                    <a:pt x="0" y="1569085"/>
                  </a:lnTo>
                  <a:lnTo>
                    <a:pt x="5079" y="1594485"/>
                  </a:lnTo>
                  <a:lnTo>
                    <a:pt x="19050" y="1615440"/>
                  </a:lnTo>
                  <a:lnTo>
                    <a:pt x="40004" y="1630045"/>
                  </a:lnTo>
                  <a:lnTo>
                    <a:pt x="66039" y="1635125"/>
                  </a:lnTo>
                  <a:lnTo>
                    <a:pt x="5267325" y="1635125"/>
                  </a:lnTo>
                  <a:lnTo>
                    <a:pt x="5293359" y="1630045"/>
                  </a:lnTo>
                  <a:lnTo>
                    <a:pt x="5314315" y="1615440"/>
                  </a:lnTo>
                  <a:lnTo>
                    <a:pt x="5328284" y="1594485"/>
                  </a:lnTo>
                  <a:lnTo>
                    <a:pt x="5333365" y="1569085"/>
                  </a:lnTo>
                  <a:lnTo>
                    <a:pt x="5333365" y="100964"/>
                  </a:lnTo>
                  <a:lnTo>
                    <a:pt x="5325109" y="62230"/>
                  </a:lnTo>
                  <a:lnTo>
                    <a:pt x="5303520" y="29844"/>
                  </a:lnTo>
                  <a:lnTo>
                    <a:pt x="5271770" y="8255"/>
                  </a:lnTo>
                  <a:lnTo>
                    <a:pt x="5231765" y="0"/>
                  </a:lnTo>
                  <a:close/>
                </a:path>
              </a:pathLst>
            </a:custGeom>
            <a:solidFill>
              <a:srgbClr val="091729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02679" y="4439284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1269"/>
                  </a:moveTo>
                  <a:lnTo>
                    <a:pt x="635" y="0"/>
                  </a:lnTo>
                </a:path>
              </a:pathLst>
            </a:custGeom>
            <a:ln w="50680"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94424" y="4094479"/>
              <a:ext cx="5333365" cy="568325"/>
            </a:xfrm>
            <a:custGeom>
              <a:avLst/>
              <a:gdLst/>
              <a:ahLst/>
              <a:cxnLst/>
              <a:rect l="l" t="t" r="r" b="b"/>
              <a:pathLst>
                <a:path w="5333365" h="568325">
                  <a:moveTo>
                    <a:pt x="2670175" y="0"/>
                  </a:moveTo>
                  <a:lnTo>
                    <a:pt x="2623820" y="3810"/>
                  </a:lnTo>
                  <a:lnTo>
                    <a:pt x="2580004" y="14605"/>
                  </a:lnTo>
                  <a:lnTo>
                    <a:pt x="2538729" y="31750"/>
                  </a:lnTo>
                  <a:lnTo>
                    <a:pt x="2501265" y="54610"/>
                  </a:lnTo>
                  <a:lnTo>
                    <a:pt x="2468245" y="83185"/>
                  </a:lnTo>
                  <a:lnTo>
                    <a:pt x="2439670" y="116205"/>
                  </a:lnTo>
                  <a:lnTo>
                    <a:pt x="2416175" y="153670"/>
                  </a:lnTo>
                  <a:lnTo>
                    <a:pt x="2399029" y="194310"/>
                  </a:lnTo>
                  <a:lnTo>
                    <a:pt x="2388234" y="238125"/>
                  </a:lnTo>
                  <a:lnTo>
                    <a:pt x="2386329" y="259080"/>
                  </a:lnTo>
                  <a:lnTo>
                    <a:pt x="66039" y="259080"/>
                  </a:lnTo>
                  <a:lnTo>
                    <a:pt x="40004" y="264160"/>
                  </a:lnTo>
                  <a:lnTo>
                    <a:pt x="19050" y="278130"/>
                  </a:lnTo>
                  <a:lnTo>
                    <a:pt x="5079" y="299085"/>
                  </a:lnTo>
                  <a:lnTo>
                    <a:pt x="0" y="324485"/>
                  </a:lnTo>
                  <a:lnTo>
                    <a:pt x="0" y="360045"/>
                  </a:lnTo>
                  <a:lnTo>
                    <a:pt x="2395854" y="360045"/>
                  </a:lnTo>
                  <a:lnTo>
                    <a:pt x="2399029" y="374015"/>
                  </a:lnTo>
                  <a:lnTo>
                    <a:pt x="2416175" y="414655"/>
                  </a:lnTo>
                  <a:lnTo>
                    <a:pt x="2439670" y="452120"/>
                  </a:lnTo>
                  <a:lnTo>
                    <a:pt x="2468245" y="485140"/>
                  </a:lnTo>
                  <a:lnTo>
                    <a:pt x="2501265" y="513080"/>
                  </a:lnTo>
                  <a:lnTo>
                    <a:pt x="2538729" y="536575"/>
                  </a:lnTo>
                  <a:lnTo>
                    <a:pt x="2580004" y="553720"/>
                  </a:lnTo>
                  <a:lnTo>
                    <a:pt x="2623820" y="564515"/>
                  </a:lnTo>
                  <a:lnTo>
                    <a:pt x="2670175" y="568325"/>
                  </a:lnTo>
                  <a:lnTo>
                    <a:pt x="2715895" y="564515"/>
                  </a:lnTo>
                  <a:lnTo>
                    <a:pt x="2760345" y="553720"/>
                  </a:lnTo>
                  <a:lnTo>
                    <a:pt x="2800984" y="536575"/>
                  </a:lnTo>
                  <a:lnTo>
                    <a:pt x="2838450" y="513080"/>
                  </a:lnTo>
                  <a:lnTo>
                    <a:pt x="2871470" y="485140"/>
                  </a:lnTo>
                  <a:lnTo>
                    <a:pt x="2900045" y="452120"/>
                  </a:lnTo>
                  <a:lnTo>
                    <a:pt x="2923540" y="414655"/>
                  </a:lnTo>
                  <a:lnTo>
                    <a:pt x="2940684" y="374015"/>
                  </a:lnTo>
                  <a:lnTo>
                    <a:pt x="2944495" y="360045"/>
                  </a:lnTo>
                  <a:lnTo>
                    <a:pt x="5333365" y="360045"/>
                  </a:lnTo>
                  <a:lnTo>
                    <a:pt x="5333365" y="324485"/>
                  </a:lnTo>
                  <a:lnTo>
                    <a:pt x="5328284" y="299085"/>
                  </a:lnTo>
                  <a:lnTo>
                    <a:pt x="5314315" y="278130"/>
                  </a:lnTo>
                  <a:lnTo>
                    <a:pt x="5293359" y="264160"/>
                  </a:lnTo>
                  <a:lnTo>
                    <a:pt x="5267325" y="259080"/>
                  </a:lnTo>
                  <a:lnTo>
                    <a:pt x="2953384" y="259080"/>
                  </a:lnTo>
                  <a:lnTo>
                    <a:pt x="2951479" y="238125"/>
                  </a:lnTo>
                  <a:lnTo>
                    <a:pt x="2940684" y="194310"/>
                  </a:lnTo>
                  <a:lnTo>
                    <a:pt x="2923540" y="153670"/>
                  </a:lnTo>
                  <a:lnTo>
                    <a:pt x="2900045" y="116205"/>
                  </a:lnTo>
                  <a:lnTo>
                    <a:pt x="2871470" y="83185"/>
                  </a:lnTo>
                  <a:lnTo>
                    <a:pt x="2838450" y="54610"/>
                  </a:lnTo>
                  <a:lnTo>
                    <a:pt x="2800984" y="31750"/>
                  </a:lnTo>
                  <a:lnTo>
                    <a:pt x="2760345" y="14605"/>
                  </a:lnTo>
                  <a:lnTo>
                    <a:pt x="2715895" y="3810"/>
                  </a:lnTo>
                  <a:lnTo>
                    <a:pt x="2670175" y="0"/>
                  </a:lnTo>
                  <a:close/>
                </a:path>
              </a:pathLst>
            </a:custGeom>
            <a:solidFill>
              <a:srgbClr val="FFBD00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393307" y="4215765"/>
            <a:ext cx="4760595" cy="1541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" algn="ctr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Palatino Linotype" panose="02040502050505030304"/>
                <a:cs typeface="Palatino Linotype" panose="02040502050505030304"/>
              </a:rPr>
              <a:t>4</a:t>
            </a:r>
            <a:endParaRPr sz="1750" dirty="0">
              <a:latin typeface="Palatino Linotype" panose="02040502050505030304"/>
              <a:cs typeface="Palatino Linotype" panose="02040502050505030304"/>
            </a:endParaRPr>
          </a:p>
          <a:p>
            <a:pPr marL="12700">
              <a:lnSpc>
                <a:spcPct val="100000"/>
              </a:lnSpc>
              <a:spcBef>
                <a:spcPts val="2310"/>
              </a:spcBef>
            </a:pP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UPI</a:t>
            </a:r>
            <a:r>
              <a:rPr sz="1850" spc="-1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spc="-1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Penny-</a:t>
            </a:r>
            <a:r>
              <a:rPr sz="185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Drop</a:t>
            </a:r>
            <a:r>
              <a:rPr sz="1850" spc="5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50" spc="-10" dirty="0">
                <a:solidFill>
                  <a:srgbClr val="F4F4F4"/>
                </a:solidFill>
                <a:latin typeface="Palatino Linotype" panose="02040502050505030304"/>
                <a:cs typeface="Palatino Linotype" panose="02040502050505030304"/>
              </a:rPr>
              <a:t>Refunds</a:t>
            </a:r>
            <a:endParaRPr sz="1850" dirty="0">
              <a:latin typeface="Palatino Linotype" panose="02040502050505030304"/>
              <a:cs typeface="Palatino Linotype" panose="02040502050505030304"/>
            </a:endParaRPr>
          </a:p>
          <a:p>
            <a:pPr marL="12700" marR="5080">
              <a:lnSpc>
                <a:spcPct val="135000"/>
              </a:lnSpc>
              <a:spcBef>
                <a:spcPts val="600"/>
              </a:spcBef>
            </a:pP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Automated</a:t>
            </a:r>
            <a:r>
              <a:rPr sz="1450" spc="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bank</a:t>
            </a:r>
            <a:r>
              <a:rPr sz="1450" spc="4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verification</a:t>
            </a:r>
            <a:r>
              <a:rPr sz="1450" spc="3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and</a:t>
            </a:r>
            <a:r>
              <a:rPr sz="1450" spc="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split</a:t>
            </a:r>
            <a:r>
              <a:rPr sz="1450" spc="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refunds</a:t>
            </a:r>
            <a:r>
              <a:rPr sz="1450" spc="-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via</a:t>
            </a:r>
            <a:r>
              <a:rPr sz="1450" spc="5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₹1</a:t>
            </a:r>
            <a:r>
              <a:rPr sz="1450" spc="5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450" spc="-25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UPI </a:t>
            </a:r>
            <a:r>
              <a:rPr sz="1450" spc="-10" dirty="0">
                <a:solidFill>
                  <a:srgbClr val="F4F4F4"/>
                </a:solidFill>
                <a:latin typeface="Trebuchet MS" panose="020B0603020202020204"/>
                <a:cs typeface="Trebuchet MS" panose="020B0603020202020204"/>
              </a:rPr>
              <a:t>drops.</a:t>
            </a:r>
            <a:endParaRPr sz="1450" dirty="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304800" y="2195829"/>
            <a:ext cx="8035290" cy="2466340"/>
          </a:xfrm>
          <a:prstGeom prst="rect">
            <a:avLst/>
          </a:prstGeom>
        </p:spPr>
        <p:txBody>
          <a:bodyPr vert="horz" wrap="square" lIns="0" tIns="333375" rIns="0" bIns="0" rtlCol="0">
            <a:noAutofit/>
          </a:bodyPr>
          <a:lstStyle/>
          <a:p>
            <a:pPr marL="867410" marR="5080" indent="-855345">
              <a:lnSpc>
                <a:spcPts val="10780"/>
              </a:lnSpc>
              <a:spcBef>
                <a:spcPts val="2625"/>
              </a:spcBef>
            </a:pPr>
            <a:r>
              <a:rPr lang="en-US" sz="8000" dirty="0"/>
              <a:t>    </a:t>
            </a:r>
            <a:r>
              <a:rPr sz="8000" dirty="0"/>
              <a:t>THANK YOU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391400" y="0"/>
            <a:ext cx="4800600" cy="6858000"/>
            <a:chOff x="7391400" y="0"/>
            <a:chExt cx="4800600" cy="6858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76304" y="6558912"/>
              <a:ext cx="1073150" cy="2565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1400" y="0"/>
              <a:ext cx="4800600" cy="68579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578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Palatino Linotype</vt:lpstr>
      <vt:lpstr>Trebuchet MS</vt:lpstr>
      <vt:lpstr>Office Theme</vt:lpstr>
      <vt:lpstr>ReturnGuard</vt:lpstr>
      <vt:lpstr>PROJECT OVERVIEW</vt:lpstr>
      <vt:lpstr>CHALLENGES &amp; SOLUTIONS</vt:lpstr>
      <vt:lpstr>SHOPPER &amp; MERCHANT DASHBOARDS</vt:lpstr>
      <vt:lpstr>KEY FEATURES</vt:lpstr>
      <vt:lpstr>TECHNOLOGY STACK</vt:lpstr>
      <vt:lpstr>CONCLUSION </vt:lpstr>
      <vt:lpstr>UNIQUENESS </vt:lpstr>
      <vt:lpstr>FUTURE SCOPE</vt:lpstr>
      <vt:lpstr>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ReturnGuard</dc:title>
  <dc:creator>prade</dc:creator>
  <cp:lastModifiedBy>sai krishna janga</cp:lastModifiedBy>
  <cp:revision>16</cp:revision>
  <dcterms:created xsi:type="dcterms:W3CDTF">2026-09-10T13:55:00Z</dcterms:created>
  <dcterms:modified xsi:type="dcterms:W3CDTF">2026-09-11T14:33:02Z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2026-09-10T22:00:00Z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2026-09-10T22:00:00Z</vt:filetime>
  </property>
  <property fmtid="{D5CDD505-2E9C-101B-9397-08002B2CF9AE}" pid="6" name="Producer">
    <vt:lpwstr>www.ilovepdf.com</vt:lpwstr>
  </property>
  <property fmtid="{D5CDD505-2E9C-101B-9397-08002B2CF9AE}" pid="7" name="ICV">
    <vt:lpwstr>CEA228899E314F23ACF3BCB2E47D36E0_13</vt:lpwstr>
  </property>
  <property fmtid="{D5CDD505-2E9C-101B-9397-08002B2CF9AE}" pid="8" name="KSOProductBuildVer">
    <vt:lpwstr>1033-12.1.0.28485</vt:lpwstr>
  </property>
</Properties>
</file>