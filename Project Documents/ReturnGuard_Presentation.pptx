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krishna janga" userId="6a5748ad44b30f57" providerId="LiveId" clId="{B8BEF77B-B3F6-43D0-9EC7-F626842B30DC}"/>
    <pc:docChg chg="custSel modSld">
      <pc:chgData name="sai krishna janga" userId="6a5748ad44b30f57" providerId="LiveId" clId="{B8BEF77B-B3F6-43D0-9EC7-F626842B30DC}" dt="2026-09-10T06:38:28.127" v="37" actId="478"/>
      <pc:docMkLst>
        <pc:docMk/>
      </pc:docMkLst>
      <pc:sldChg chg="delSp modSp mod">
        <pc:chgData name="sai krishna janga" userId="6a5748ad44b30f57" providerId="LiveId" clId="{B8BEF77B-B3F6-43D0-9EC7-F626842B30DC}" dt="2026-09-10T06:38:05.171" v="27" actId="478"/>
        <pc:sldMkLst>
          <pc:docMk/>
          <pc:sldMk cId="0" sldId="256"/>
        </pc:sldMkLst>
        <pc:spChg chg="del">
          <ac:chgData name="sai krishna janga" userId="6a5748ad44b30f57" providerId="LiveId" clId="{B8BEF77B-B3F6-43D0-9EC7-F626842B30DC}" dt="2026-09-10T06:38:05.171" v="27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i krishna janga" userId="6a5748ad44b30f57" providerId="LiveId" clId="{B8BEF77B-B3F6-43D0-9EC7-F626842B30DC}" dt="2026-09-10T06:34:14.196" v="3" actId="20577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sai krishna janga" userId="6a5748ad44b30f57" providerId="LiveId" clId="{B8BEF77B-B3F6-43D0-9EC7-F626842B30DC}" dt="2026-09-10T06:38:28.127" v="37" actId="478"/>
        <pc:sldMkLst>
          <pc:docMk/>
          <pc:sldMk cId="0" sldId="257"/>
        </pc:sldMkLst>
        <pc:spChg chg="del mod">
          <ac:chgData name="sai krishna janga" userId="6a5748ad44b30f57" providerId="LiveId" clId="{B8BEF77B-B3F6-43D0-9EC7-F626842B30DC}" dt="2026-09-10T06:38:28.127" v="37" actId="478"/>
          <ac:spMkLst>
            <pc:docMk/>
            <pc:sldMk cId="0" sldId="257"/>
            <ac:spMk id="4" creationId="{00000000-0000-0000-0000-000000000000}"/>
          </ac:spMkLst>
        </pc:spChg>
      </pc:sldChg>
      <pc:sldChg chg="delSp modSp mod">
        <pc:chgData name="sai krishna janga" userId="6a5748ad44b30f57" providerId="LiveId" clId="{B8BEF77B-B3F6-43D0-9EC7-F626842B30DC}" dt="2026-09-10T06:38:10.453" v="29" actId="478"/>
        <pc:sldMkLst>
          <pc:docMk/>
          <pc:sldMk cId="0" sldId="258"/>
        </pc:sldMkLst>
        <pc:spChg chg="del">
          <ac:chgData name="sai krishna janga" userId="6a5748ad44b30f57" providerId="LiveId" clId="{B8BEF77B-B3F6-43D0-9EC7-F626842B30DC}" dt="2026-09-10T06:38:10.453" v="29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sai krishna janga" userId="6a5748ad44b30f57" providerId="LiveId" clId="{B8BEF77B-B3F6-43D0-9EC7-F626842B30DC}" dt="2026-09-10T06:34:41.603" v="26" actId="20577"/>
          <ac:spMkLst>
            <pc:docMk/>
            <pc:sldMk cId="0" sldId="258"/>
            <ac:spMk id="5" creationId="{00000000-0000-0000-0000-000000000000}"/>
          </ac:spMkLst>
        </pc:spChg>
      </pc:sldChg>
      <pc:sldChg chg="delSp mod">
        <pc:chgData name="sai krishna janga" userId="6a5748ad44b30f57" providerId="LiveId" clId="{B8BEF77B-B3F6-43D0-9EC7-F626842B30DC}" dt="2026-09-10T06:38:11.440" v="30" actId="478"/>
        <pc:sldMkLst>
          <pc:docMk/>
          <pc:sldMk cId="0" sldId="259"/>
        </pc:sldMkLst>
        <pc:spChg chg="del">
          <ac:chgData name="sai krishna janga" userId="6a5748ad44b30f57" providerId="LiveId" clId="{B8BEF77B-B3F6-43D0-9EC7-F626842B30DC}" dt="2026-09-10T06:38:11.440" v="30" actId="478"/>
          <ac:spMkLst>
            <pc:docMk/>
            <pc:sldMk cId="0" sldId="259"/>
            <ac:spMk id="4" creationId="{00000000-0000-0000-0000-000000000000}"/>
          </ac:spMkLst>
        </pc:spChg>
      </pc:sldChg>
      <pc:sldChg chg="delSp mod">
        <pc:chgData name="sai krishna janga" userId="6a5748ad44b30f57" providerId="LiveId" clId="{B8BEF77B-B3F6-43D0-9EC7-F626842B30DC}" dt="2026-09-10T06:38:16.507" v="33" actId="478"/>
        <pc:sldMkLst>
          <pc:docMk/>
          <pc:sldMk cId="0" sldId="260"/>
        </pc:sldMkLst>
        <pc:spChg chg="del">
          <ac:chgData name="sai krishna janga" userId="6a5748ad44b30f57" providerId="LiveId" clId="{B8BEF77B-B3F6-43D0-9EC7-F626842B30DC}" dt="2026-09-10T06:38:16.507" v="33" actId="478"/>
          <ac:spMkLst>
            <pc:docMk/>
            <pc:sldMk cId="0" sldId="260"/>
            <ac:spMk id="4" creationId="{00000000-0000-0000-0000-000000000000}"/>
          </ac:spMkLst>
        </pc:spChg>
      </pc:sldChg>
      <pc:sldChg chg="delSp mod">
        <pc:chgData name="sai krishna janga" userId="6a5748ad44b30f57" providerId="LiveId" clId="{B8BEF77B-B3F6-43D0-9EC7-F626842B30DC}" dt="2026-09-10T06:38:14.001" v="32" actId="478"/>
        <pc:sldMkLst>
          <pc:docMk/>
          <pc:sldMk cId="0" sldId="261"/>
        </pc:sldMkLst>
        <pc:spChg chg="del">
          <ac:chgData name="sai krishna janga" userId="6a5748ad44b30f57" providerId="LiveId" clId="{B8BEF77B-B3F6-43D0-9EC7-F626842B30DC}" dt="2026-09-10T06:38:14.001" v="32" actId="478"/>
          <ac:spMkLst>
            <pc:docMk/>
            <pc:sldMk cId="0" sldId="261"/>
            <ac:spMk id="4" creationId="{00000000-0000-0000-0000-000000000000}"/>
          </ac:spMkLst>
        </pc:spChg>
      </pc:sldChg>
      <pc:sldChg chg="delSp mod">
        <pc:chgData name="sai krishna janga" userId="6a5748ad44b30f57" providerId="LiveId" clId="{B8BEF77B-B3F6-43D0-9EC7-F626842B30DC}" dt="2026-09-10T06:38:12.989" v="31" actId="478"/>
        <pc:sldMkLst>
          <pc:docMk/>
          <pc:sldMk cId="0" sldId="262"/>
        </pc:sldMkLst>
        <pc:spChg chg="del">
          <ac:chgData name="sai krishna janga" userId="6a5748ad44b30f57" providerId="LiveId" clId="{B8BEF77B-B3F6-43D0-9EC7-F626842B30DC}" dt="2026-09-10T06:38:12.989" v="31" actId="478"/>
          <ac:spMkLst>
            <pc:docMk/>
            <pc:sldMk cId="0" sldId="262"/>
            <ac:spMk id="4" creationId="{00000000-0000-0000-0000-000000000000}"/>
          </ac:spMkLst>
        </pc:spChg>
      </pc:sldChg>
      <pc:sldChg chg="delSp mod">
        <pc:chgData name="sai krishna janga" userId="6a5748ad44b30f57" providerId="LiveId" clId="{B8BEF77B-B3F6-43D0-9EC7-F626842B30DC}" dt="2026-09-10T06:38:17.817" v="34" actId="478"/>
        <pc:sldMkLst>
          <pc:docMk/>
          <pc:sldMk cId="0" sldId="263"/>
        </pc:sldMkLst>
        <pc:spChg chg="del">
          <ac:chgData name="sai krishna janga" userId="6a5748ad44b30f57" providerId="LiveId" clId="{B8BEF77B-B3F6-43D0-9EC7-F626842B30DC}" dt="2026-09-10T06:38:17.817" v="34" actId="478"/>
          <ac:spMkLst>
            <pc:docMk/>
            <pc:sldMk cId="0" sldId="263"/>
            <ac:spMk id="4" creationId="{00000000-0000-0000-0000-000000000000}"/>
          </ac:spMkLst>
        </pc:spChg>
      </pc:sldChg>
      <pc:sldChg chg="delSp modSp mod">
        <pc:chgData name="sai krishna janga" userId="6a5748ad44b30f57" providerId="LiveId" clId="{B8BEF77B-B3F6-43D0-9EC7-F626842B30DC}" dt="2026-09-10T06:38:21.377" v="36" actId="478"/>
        <pc:sldMkLst>
          <pc:docMk/>
          <pc:sldMk cId="0" sldId="264"/>
        </pc:sldMkLst>
        <pc:spChg chg="del mod">
          <ac:chgData name="sai krishna janga" userId="6a5748ad44b30f57" providerId="LiveId" clId="{B8BEF77B-B3F6-43D0-9EC7-F626842B30DC}" dt="2026-09-10T06:38:21.377" v="36" actId="478"/>
          <ac:spMkLst>
            <pc:docMk/>
            <pc:sldMk cId="0" sldId="264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9966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548640" rIns="457200" rtlCol="0" anchor="ctr"/>
          <a:lstStyle/>
          <a:p>
            <a:pPr algn="ctr">
              <a:spcAft>
                <a:spcPts val="1200"/>
              </a:spcAft>
              <a:defRPr sz="5200" b="1">
                <a:solidFill>
                  <a:srgbClr val="0F172A"/>
                </a:solidFill>
              </a:defRPr>
            </a:pPr>
            <a:r>
              <a:rPr dirty="0" err="1"/>
              <a:t>ReturnGuard</a:t>
            </a:r>
            <a:endParaRPr dirty="0"/>
          </a:p>
          <a:p>
            <a:pPr algn="ctr">
              <a:spcAft>
                <a:spcPts val="3200"/>
              </a:spcAft>
              <a:defRPr sz="2000">
                <a:solidFill>
                  <a:srgbClr val="475569"/>
                </a:solidFill>
              </a:defRPr>
            </a:pPr>
            <a:r>
              <a:rPr dirty="0"/>
              <a:t>An Intelligent, COD-Native Risk Defense System for Indian D2C Commerce</a:t>
            </a:r>
            <a:endParaRPr lang="en-US" dirty="0"/>
          </a:p>
          <a:p>
            <a:pPr algn="ctr">
              <a:spcAft>
                <a:spcPts val="3200"/>
              </a:spcAft>
              <a:defRPr sz="2000">
                <a:solidFill>
                  <a:srgbClr val="475569"/>
                </a:solidFill>
              </a:defRPr>
            </a:pPr>
            <a:r>
              <a:rPr sz="1500" b="1" dirty="0">
                <a:solidFill>
                  <a:srgbClr val="0D9488"/>
                </a:solidFill>
              </a:rPr>
              <a:t>       </a:t>
            </a:r>
            <a:r>
              <a:rPr sz="1500" b="1" dirty="0">
                <a:solidFill>
                  <a:srgbClr val="0F172A"/>
                </a:solidFill>
              </a:rPr>
              <a:t>Mentor Name: </a:t>
            </a:r>
            <a:r>
              <a:rPr sz="1500" b="1" dirty="0" err="1">
                <a:solidFill>
                  <a:srgbClr val="0F172A"/>
                </a:solidFill>
              </a:rPr>
              <a:t>Thavayee</a:t>
            </a:r>
            <a:endParaRPr sz="1500" b="1" dirty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32004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PROJECT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</a:rPr>
              <a:t>• Problem Context in Indian D2C: </a:t>
            </a:r>
            <a:r>
              <a:rPr sz="900">
                <a:solidFill>
                  <a:srgbClr val="475569"/>
                </a:solidFill>
              </a:rPr>
              <a:t>Cash-on-Delivery (COD) represents 60%+ of Indian e-commerce orders, creating severe financial exposure where merchants pay 3x forward freight on illegitimate returns.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</a:rPr>
              <a:t>• Dual-Portal Ecosystem: </a:t>
            </a:r>
            <a:r>
              <a:rPr sz="900">
                <a:solidFill>
                  <a:srgbClr val="475569"/>
                </a:solidFill>
              </a:rPr>
              <a:t>A complete, production-ready web platform providing a customer storefront alongside an operations portal for merchant fraud investigation.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</a:rPr>
              <a:t>• Real-Time Risk Engine: </a:t>
            </a:r>
            <a:r>
              <a:rPr sz="900">
                <a:solidFill>
                  <a:srgbClr val="475569"/>
                </a:solidFill>
              </a:rPr>
              <a:t>Evaluates all incoming transactions and return claims dynamically across a 0 to 100 risk scoring spectrum in sub-second execution.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</a:rPr>
              <a:t>• Target Beneficiaries: </a:t>
            </a:r>
            <a:r>
              <a:rPr sz="900">
                <a:solidFill>
                  <a:srgbClr val="475569"/>
                </a:solidFill>
              </a:rPr>
              <a:t>Small-to-mid Indian D2C retailers ($50K–$5M ARR) selling apparel, lifestyle, and electronics who cannot afford costly enterprise fraud solutions.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</a:rPr>
              <a:t>• Frictionless by Default: </a:t>
            </a:r>
            <a:r>
              <a:rPr sz="900">
                <a:solidFill>
                  <a:srgbClr val="475569"/>
                </a:solidFill>
              </a:rPr>
              <a:t>85%+ of genuine shoppers enjoy instant zero-friction auto-approvals; verification escalates only when specific risk anomalies trigger.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</a:rPr>
              <a:t>• Margin Preservation Value: </a:t>
            </a:r>
            <a:r>
              <a:rPr sz="900">
                <a:solidFill>
                  <a:srgbClr val="475569"/>
                </a:solidFill>
              </a:rPr>
              <a:t>Converts reverse logistics from an uncontrolled profit drain into a secure, revenue-protecting operational asset.</a:t>
            </a:r>
          </a:p>
        </p:txBody>
      </p:sp>
      <p:pic>
        <p:nvPicPr>
          <p:cNvPr id="7" name="Picture 6" descr="real_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2120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9893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475569"/>
                </a:solidFill>
              </a:defRPr>
            </a:pPr>
            <a:r>
              <a:t>Live Screen: Storefront Landing Page &amp; Shopper Commerce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320040"/>
            <a:ext cx="92354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dirty="0"/>
              <a:t>SHOPPER &amp; MERCHANT DASHBOARDS</a:t>
            </a:r>
          </a:p>
        </p:txBody>
      </p:sp>
      <p:pic>
        <p:nvPicPr>
          <p:cNvPr id="6" name="Picture 5" descr="shopp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21208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75887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Shopper Portal: Order History, Reward Points &amp; 1-Click Return/Exchange 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150" b="1">
                <a:solidFill>
                  <a:srgbClr val="4338CA"/>
                </a:solidFill>
              </a:defRPr>
            </a:pPr>
            <a:r>
              <a:rPr dirty="0"/>
              <a:t>SHOPPER STOREFRONT &amp; SELF-SERVICE PORTAL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</a:rPr>
              <a:t>• 1-Click Return Initiation: </a:t>
            </a:r>
            <a:r>
              <a:rPr sz="900" dirty="0">
                <a:solidFill>
                  <a:srgbClr val="475569"/>
                </a:solidFill>
              </a:rPr>
              <a:t>Seamless self-service return and exchange flow directly from customer order history with dynamic reason collection.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</a:rPr>
              <a:t>• Smart Exchange Incentive: </a:t>
            </a:r>
            <a:r>
              <a:rPr sz="900" dirty="0">
                <a:solidFill>
                  <a:srgbClr val="475569"/>
                </a:solidFill>
              </a:rPr>
              <a:t>Prompts instant size/color exchanges over cash refunds, reducing reverse freight fees while preserving the sale.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</a:rPr>
              <a:t>• Live Order &amp; Return Tracking: </a:t>
            </a:r>
            <a:r>
              <a:rPr sz="900" dirty="0">
                <a:solidFill>
                  <a:srgbClr val="475569"/>
                </a:solidFill>
              </a:rPr>
              <a:t>Transparent real-time status tracking showing pickup scheduling, doorstep verification, and refund timeline.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</a:rPr>
              <a:t>• Friction-Free Experience: </a:t>
            </a:r>
            <a:r>
              <a:rPr sz="900" dirty="0">
                <a:solidFill>
                  <a:srgbClr val="475569"/>
                </a:solidFill>
              </a:rPr>
              <a:t>85%+ of genuine shoppers enjoy instant auto-approval with zero administrative hurdles or hold times.</a:t>
            </a:r>
          </a:p>
        </p:txBody>
      </p:sp>
      <p:pic>
        <p:nvPicPr>
          <p:cNvPr id="9" name="Picture 8" descr="3_merchan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21208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3675887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</a:defRPr>
            </a:pPr>
            <a:r>
              <a:t>Merchant Portal: Executive Risk KPIs, Flagged Returns Queue &amp; Fraud Triage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150" b="1">
                <a:solidFill>
                  <a:srgbClr val="0D9488"/>
                </a:solidFill>
              </a:defRPr>
            </a:pPr>
            <a:r>
              <a:rPr dirty="0"/>
              <a:t>MERCHANT OPERATIONS COMMAND CENTER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</a:rPr>
              <a:t>• Executive KPI Intelligence: </a:t>
            </a:r>
            <a:r>
              <a:rPr sz="900" dirty="0">
                <a:solidFill>
                  <a:srgbClr val="475569"/>
                </a:solidFill>
              </a:rPr>
              <a:t>Real-time visibility into overall return rates, prevented loss values, risk tier breakdown, and order velocity.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</a:rPr>
              <a:t>• Automated Anomaly Triage: </a:t>
            </a:r>
            <a:r>
              <a:rPr sz="900" dirty="0">
                <a:solidFill>
                  <a:srgbClr val="475569"/>
                </a:solidFill>
              </a:rPr>
              <a:t>Continuous 0–100 risk scoring automatically funneling suspicious claims into a prioritized review queue.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</a:rPr>
              <a:t>• Configurable Fraud Policies: </a:t>
            </a:r>
            <a:r>
              <a:rPr sz="900" dirty="0">
                <a:solidFill>
                  <a:srgbClr val="475569"/>
                </a:solidFill>
              </a:rPr>
              <a:t>Dynamic sliders to tune sensitivity per category, seasonal festive wardrobing rules, and serial tracking.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</a:rPr>
              <a:t>• Custody Chain &amp; Logistics: </a:t>
            </a:r>
            <a:r>
              <a:rPr sz="900" dirty="0">
                <a:solidFill>
                  <a:srgbClr val="475569"/>
                </a:solidFill>
              </a:rPr>
              <a:t>Integrates doorstep digital witnessing, courier handover verification, and driver collusion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32004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CHALLENGES &amp; SOLUTIONS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1100"/>
              </a:spcAft>
            </a:pPr>
            <a:r>
              <a:rPr sz="1000" b="1">
                <a:solidFill>
                  <a:srgbClr val="0F172A"/>
                </a:solidFill>
              </a:rPr>
              <a:t>• Challenge 1 — Wardrobing &amp; Festive Rental Abuse: </a:t>
            </a:r>
            <a:r>
              <a:rPr sz="900">
                <a:solidFill>
                  <a:srgbClr val="475569"/>
                </a:solidFill>
              </a:rPr>
              <a:t>Shoppers buy premium ethnic apparel for Diwali or wedding seasons, wear them once, and return for full refunds. Solution (CP4): Seasonal cultural risk tightening, mandatory tag-intact verification, and pre-return condition checks.</a:t>
            </a:r>
          </a:p>
          <a:p>
            <a:pPr>
              <a:spcAft>
                <a:spcPts val="1100"/>
              </a:spcAft>
            </a:pPr>
            <a:r>
              <a:rPr sz="1000" b="1">
                <a:solidFill>
                  <a:srgbClr val="0F172A"/>
                </a:solidFill>
              </a:rPr>
              <a:t>• Challenge 2 — Size Bracketing Multi-Orders: </a:t>
            </a:r>
            <a:r>
              <a:rPr sz="900">
                <a:solidFill>
                  <a:srgbClr val="475569"/>
                </a:solidFill>
              </a:rPr>
              <a:t>Buyers purchase 3–4 sizes of the same SKU intending to keep only one, inflating freight costs by 300%. Solution (CP10): Cart-level multi-size detection with instant size exchange incentives over cash returns.</a:t>
            </a:r>
          </a:p>
          <a:p>
            <a:pPr>
              <a:spcAft>
                <a:spcPts val="1100"/>
              </a:spcAft>
            </a:pPr>
            <a:r>
              <a:rPr sz="1000" b="1">
                <a:solidFill>
                  <a:srgbClr val="0F172A"/>
                </a:solidFill>
              </a:rPr>
              <a:t>• Challenge 3 — Electronics Hardware Swapping: </a:t>
            </a:r>
            <a:r>
              <a:rPr sz="900">
                <a:solidFill>
                  <a:srgbClr val="475569"/>
                </a:solidFill>
              </a:rPr>
              <a:t>High-value electronics returned with missing chargers, clone units, or dummy ballast weights. Solution (CP17): Strict outbound vs inbound serial/IMEI verification with automated +50 pt critical risk flagging.</a:t>
            </a:r>
          </a:p>
          <a:p>
            <a:pPr>
              <a:spcAft>
                <a:spcPts val="1100"/>
              </a:spcAft>
            </a:pPr>
            <a:r>
              <a:rPr sz="1000" b="1">
                <a:solidFill>
                  <a:srgbClr val="0F172A"/>
                </a:solidFill>
              </a:rPr>
              <a:t>• Challenge 4 — Courier &amp; Driver Collusion: </a:t>
            </a:r>
            <a:r>
              <a:rPr sz="900">
                <a:solidFill>
                  <a:srgbClr val="475569"/>
                </a:solidFill>
              </a:rPr>
              <a:t>Delivery drivers falsely marking items as 'customer rejected' or siphoning returned goods during transit. Solution (CP24): Geo-stamped doorstep signatures, tamper-evident seals, and driver route anomaly analytics.</a:t>
            </a:r>
          </a:p>
        </p:txBody>
      </p:sp>
      <p:pic>
        <p:nvPicPr>
          <p:cNvPr id="7" name="Picture 6" descr="4_flagged_cases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2120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9893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475569"/>
                </a:solidFill>
              </a:defRPr>
            </a:pPr>
            <a:r>
              <a:t>Live Screen: Flagged Cases Queue (Actionable Risk Scoring &amp; Resolution Workflow)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32004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1000"/>
              </a:spcAft>
            </a:pPr>
            <a:r>
              <a:rPr sz="1000" b="1" dirty="0">
                <a:solidFill>
                  <a:srgbClr val="0F172A"/>
                </a:solidFill>
              </a:rPr>
              <a:t>• Customer &amp; Risk Profile Context: </a:t>
            </a:r>
            <a:r>
              <a:rPr sz="900" dirty="0">
                <a:solidFill>
                  <a:srgbClr val="475569"/>
                </a:solidFill>
              </a:rPr>
              <a:t>Real-time shopper telemetry displaying customer identity, order history, active return rate, and flagged risk tier (High Risk • 78 pts).</a:t>
            </a:r>
          </a:p>
          <a:p>
            <a:pPr>
              <a:spcAft>
                <a:spcPts val="1000"/>
              </a:spcAft>
            </a:pPr>
            <a:r>
              <a:rPr sz="1000" b="1" dirty="0">
                <a:solidFill>
                  <a:srgbClr val="0F172A"/>
                </a:solidFill>
              </a:rPr>
              <a:t>• 5-Step Return &amp; Risk Engine: </a:t>
            </a:r>
            <a:r>
              <a:rPr sz="900" dirty="0">
                <a:solidFill>
                  <a:srgbClr val="475569"/>
                </a:solidFill>
              </a:rPr>
              <a:t>Automated lifecycle progression through Return Requested → Pickup Scheduled → Product Inspection → Risk Evaluation → Merchant Decision.</a:t>
            </a:r>
          </a:p>
          <a:p>
            <a:pPr>
              <a:spcAft>
                <a:spcPts val="1000"/>
              </a:spcAft>
            </a:pPr>
            <a:r>
              <a:rPr sz="1000" b="1" dirty="0">
                <a:solidFill>
                  <a:srgbClr val="0F172A"/>
                </a:solidFill>
              </a:rPr>
              <a:t>• 1-Click Merchant Decision Panel: </a:t>
            </a:r>
            <a:r>
              <a:rPr sz="900" dirty="0">
                <a:solidFill>
                  <a:srgbClr val="475569"/>
                </a:solidFill>
              </a:rPr>
              <a:t>Direct operational execution buttons: Approve Refund (Green), Store Credit +5% (Blue), Replacement (Indigo), Hold (Amber), Reject (Rose), or Reject + Restrict (Dark Red).</a:t>
            </a:r>
          </a:p>
          <a:p>
            <a:pPr>
              <a:spcAft>
                <a:spcPts val="1000"/>
              </a:spcAft>
            </a:pPr>
            <a:r>
              <a:rPr sz="1000" b="1" dirty="0">
                <a:solidFill>
                  <a:srgbClr val="0F172A"/>
                </a:solidFill>
              </a:rPr>
              <a:t>• 4-Tier / 28 Risk Checkpoints: </a:t>
            </a:r>
            <a:r>
              <a:rPr sz="900" dirty="0">
                <a:solidFill>
                  <a:srgbClr val="475569"/>
                </a:solidFill>
              </a:rPr>
              <a:t>Comprehensive evaluation pipeline covering Pre-Scoring Gates, Physical Attributes, Behavioral Biometrics, and Composite Decision Rules.</a:t>
            </a:r>
          </a:p>
          <a:p>
            <a:pPr>
              <a:spcAft>
                <a:spcPts val="1000"/>
              </a:spcAft>
            </a:pPr>
            <a:r>
              <a:rPr sz="1000" b="1" dirty="0">
                <a:solidFill>
                  <a:srgbClr val="0F172A"/>
                </a:solidFill>
              </a:rPr>
              <a:t>• 6-Level Escalation Ladder: </a:t>
            </a:r>
            <a:r>
              <a:rPr sz="900" dirty="0">
                <a:solidFill>
                  <a:srgbClr val="475569"/>
                </a:solidFill>
              </a:rPr>
              <a:t>Proportionate customer friction scaling from instant auto-approval to OTP challenge, COD lock, and account termination.</a:t>
            </a:r>
          </a:p>
          <a:p>
            <a:pPr>
              <a:spcAft>
                <a:spcPts val="1000"/>
              </a:spcAft>
            </a:pPr>
            <a:r>
              <a:rPr sz="1000" b="1" dirty="0">
                <a:solidFill>
                  <a:srgbClr val="0F172A"/>
                </a:solidFill>
              </a:rPr>
              <a:t>• Full Audit &amp; Case Documentation: </a:t>
            </a:r>
            <a:r>
              <a:rPr sz="900" dirty="0">
                <a:solidFill>
                  <a:srgbClr val="475569"/>
                </a:solidFill>
              </a:rPr>
              <a:t>Structured decision notes capture and immutable audit logging for fraud disputes and chargeback defense.</a:t>
            </a:r>
          </a:p>
        </p:txBody>
      </p:sp>
      <p:pic>
        <p:nvPicPr>
          <p:cNvPr id="7" name="Picture 6" descr="5_flagged_case_detail_28check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2120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9893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475569"/>
                </a:solidFill>
              </a:defRPr>
            </a:pPr>
            <a:r>
              <a:t>Live Screen: Flagged Case Review (Customer Profile, 5-Step Return Engine &amp; Decision Panel)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32004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TECHNOLOGY STACK</a:t>
            </a:r>
          </a:p>
        </p:txBody>
      </p:sp>
      <p:pic>
        <p:nvPicPr>
          <p:cNvPr id="6" name="Picture 5" descr="official_tech_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43000"/>
            <a:ext cx="8165592" cy="1737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01752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28600" rIns="256032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FRONTEND &amp; CLIENT ARCHITECTURE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</a:rPr>
              <a:t>• React &amp; Vite SPA: </a:t>
            </a:r>
            <a:r>
              <a:rPr sz="900">
                <a:solidFill>
                  <a:srgbClr val="475569"/>
                </a:solidFill>
              </a:rPr>
              <a:t>Modular component architecture powering both shopper store and merchant command center with hot module replacement.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</a:rPr>
              <a:t>• Tailwind CSS Design System: </a:t>
            </a:r>
            <a:r>
              <a:rPr sz="900">
                <a:solidFill>
                  <a:srgbClr val="475569"/>
                </a:solidFill>
              </a:rPr>
              <a:t>Utility-first design delivering responsive layouts, risk badges, and accessible data tables.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</a:rPr>
              <a:t>• Lucide React Icons &amp; Context API: </a:t>
            </a:r>
            <a:r>
              <a:rPr sz="900">
                <a:solidFill>
                  <a:srgbClr val="475569"/>
                </a:solidFill>
              </a:rPr>
              <a:t>Clean icon set with lightweight global state management for auth, cart, and live alerts.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</a:rPr>
              <a:t>• Resilient API Client: </a:t>
            </a:r>
            <a:r>
              <a:rPr sz="900">
                <a:solidFill>
                  <a:srgbClr val="475569"/>
                </a:solidFill>
              </a:rPr>
              <a:t>Axios HTTP layer featuring automatic JWT token refreshing and error boundary fallback states.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1752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28600" rIns="256032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BACKEND, DATABASE &amp; TASK PIPELINE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</a:rPr>
              <a:t>• Python &amp; Django REST Framework: </a:t>
            </a:r>
            <a:r>
              <a:rPr sz="900">
                <a:solidFill>
                  <a:srgbClr val="475569"/>
                </a:solidFill>
              </a:rPr>
              <a:t>Robust RESTful API architecture running 28-checkpoint scoring with sub-second execution.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</a:rPr>
              <a:t>• PostgreSQL with Row-Level Security: </a:t>
            </a:r>
            <a:r>
              <a:rPr sz="900">
                <a:solidFill>
                  <a:srgbClr val="475569"/>
                </a:solidFill>
              </a:rPr>
              <a:t>Relational database with strict tenant isolation, foreign keys, and ACID compliance.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</a:rPr>
              <a:t>• Redis &amp; Celery Worker Queue: </a:t>
            </a:r>
            <a:r>
              <a:rPr sz="900">
                <a:solidFill>
                  <a:srgbClr val="475569"/>
                </a:solidFill>
              </a:rPr>
              <a:t>Distributed asynchronous background pipeline handling risk scoring and automated alerts.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</a:rPr>
              <a:t>• Security &amp; Invoicing Engine: </a:t>
            </a:r>
            <a:r>
              <a:rPr sz="900">
                <a:solidFill>
                  <a:srgbClr val="475569"/>
                </a:solidFill>
              </a:rPr>
              <a:t>HMAC SHA-256 webhook signatures, encrypted telemetry, and ReportLab PDF invoice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32004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rPr dirty="0"/>
              <a:t>CORE SYSTEM DELIVERABLES</a:t>
            </a:r>
          </a:p>
          <a:p>
            <a:pPr>
              <a:spcAft>
                <a:spcPts val="1000"/>
              </a:spcAft>
            </a:pPr>
            <a:r>
              <a:rPr sz="1000" b="1" dirty="0">
                <a:solidFill>
                  <a:srgbClr val="0F172A"/>
                </a:solidFill>
              </a:rPr>
              <a:t>• Complete Working Platform: </a:t>
            </a:r>
            <a:r>
              <a:rPr sz="900" dirty="0">
                <a:solidFill>
                  <a:srgbClr val="475569"/>
                </a:solidFill>
              </a:rPr>
              <a:t>Dual-portal e-commerce application integrating a customer storefront with a real-time merchant operations command portal.</a:t>
            </a:r>
          </a:p>
          <a:p>
            <a:pPr>
              <a:spcAft>
                <a:spcPts val="1000"/>
              </a:spcAft>
            </a:pPr>
            <a:r>
              <a:rPr sz="1000" b="1" dirty="0">
                <a:solidFill>
                  <a:srgbClr val="0F172A"/>
                </a:solidFill>
              </a:rPr>
              <a:t>• 28 Algorithmic Checkpoints: </a:t>
            </a:r>
            <a:r>
              <a:rPr sz="900" dirty="0">
                <a:solidFill>
                  <a:srgbClr val="475569"/>
                </a:solidFill>
              </a:rPr>
              <a:t>Comprehensive multi-tier scoring pipeline analyzing behavioral, cultural, physical, and logistics checks.</a:t>
            </a:r>
          </a:p>
          <a:p>
            <a:pPr>
              <a:spcAft>
                <a:spcPts val="1000"/>
              </a:spcAft>
            </a:pPr>
            <a:r>
              <a:rPr sz="1000" b="1" dirty="0">
                <a:solidFill>
                  <a:srgbClr val="0F172A"/>
                </a:solidFill>
              </a:rPr>
              <a:t>• 6-Level Escalation Ladder: </a:t>
            </a:r>
            <a:r>
              <a:rPr sz="900" dirty="0">
                <a:solidFill>
                  <a:srgbClr val="475569"/>
                </a:solidFill>
              </a:rPr>
              <a:t>Dynamic, proportional friction scaling from automated approval to doorstep OTP, COD restriction, and blacklisting.</a:t>
            </a:r>
          </a:p>
          <a:p>
            <a:pPr>
              <a:spcAft>
                <a:spcPts val="1000"/>
              </a:spcAft>
            </a:pPr>
            <a:r>
              <a:rPr sz="1000" b="1" dirty="0">
                <a:solidFill>
                  <a:srgbClr val="0F172A"/>
                </a:solidFill>
              </a:rPr>
              <a:t>• Production API Architecture: </a:t>
            </a:r>
            <a:r>
              <a:rPr sz="900" dirty="0">
                <a:solidFill>
                  <a:srgbClr val="475569"/>
                </a:solidFill>
              </a:rPr>
              <a:t>Scalable Django REST backend with asynchronous task workers and PostgreSQL Row-Level Security isolation.</a:t>
            </a:r>
          </a:p>
          <a:p>
            <a:pPr>
              <a:spcAft>
                <a:spcPts val="1000"/>
              </a:spcAft>
            </a:pPr>
            <a:r>
              <a:rPr sz="1000" b="1" dirty="0">
                <a:solidFill>
                  <a:srgbClr val="0F172A"/>
                </a:solidFill>
              </a:rPr>
              <a:t>• Full Audit &amp; Case History: </a:t>
            </a:r>
            <a:r>
              <a:rPr sz="900" dirty="0">
                <a:solidFill>
                  <a:srgbClr val="475569"/>
                </a:solidFill>
              </a:rPr>
              <a:t>Immutable tracking logs capturing every risk signal, customer action, and merchant resolution.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56032" rIns="256032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D9488"/>
                </a:solidFill>
              </a:defRPr>
            </a:pPr>
            <a:r>
              <a:t>BUSINESS VALUE &amp; QUANTIFIED IMPACT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</a:rPr>
              <a:t>• 85%+ Instant Approvals: </a:t>
            </a:r>
            <a:r>
              <a:rPr sz="900">
                <a:solidFill>
                  <a:srgbClr val="475569"/>
                </a:solidFill>
              </a:rPr>
              <a:t>Genuine customers experience zero friction with instant auto-approval on legitimate orders and return claims.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</a:rPr>
              <a:t>• 70% Cut in Wardrobing Abuse: </a:t>
            </a:r>
            <a:r>
              <a:rPr sz="900">
                <a:solidFill>
                  <a:srgbClr val="475569"/>
                </a:solidFill>
              </a:rPr>
              <a:t>Cultural and seasonal calendar rules eliminate organized festive garment rental fraud during weddings and festivals.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</a:rPr>
              <a:t>• Reverse Freight Recovery: </a:t>
            </a:r>
            <a:r>
              <a:rPr sz="900">
                <a:solidFill>
                  <a:srgbClr val="475569"/>
                </a:solidFill>
              </a:rPr>
              <a:t>Eliminates unnecessary 3x forward logistics fees on abusive multi-size orders and merchandise swapping.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</a:rPr>
              <a:t>• Protects Merchant Margin: </a:t>
            </a:r>
            <a:r>
              <a:rPr sz="900">
                <a:solidFill>
                  <a:srgbClr val="475569"/>
                </a:solidFill>
              </a:rPr>
              <a:t>Empowers small-to-mid Indian D2C retailers to offer safe COD payments without risking inventory bankruptcy.</a:t>
            </a:r>
          </a:p>
          <a:p>
            <a:pPr>
              <a:spcAft>
                <a:spcPts val="1000"/>
              </a:spcAft>
            </a:pPr>
            <a:r>
              <a:rPr sz="1000" b="1">
                <a:solidFill>
                  <a:srgbClr val="0F172A"/>
                </a:solidFill>
              </a:rPr>
              <a:t>• Granular Policy Customization: </a:t>
            </a:r>
            <a:r>
              <a:rPr sz="900">
                <a:solidFill>
                  <a:srgbClr val="475569"/>
                </a:solidFill>
              </a:rPr>
              <a:t>Store operators can adjust risk sensitivity sliders dynamically per product category to optimize margins.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32004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4338CA"/>
                </a:solidFill>
              </a:defRPr>
            </a:pPr>
            <a:r>
              <a:t>1. MOBILE EDGE COMPUTER VISION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</a:rPr>
              <a:t>• Real-Time Doorstep Scanning: </a:t>
            </a:r>
            <a:r>
              <a:rPr sz="900">
                <a:solidFill>
                  <a:srgbClr val="475569"/>
                </a:solidFill>
              </a:rPr>
              <a:t>Deploy lightweight on-device AI vision models to couriers' handheld devices for real-time fabric texture analysis, tag integrity verification, and wear detection prior to acceptance.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D9488"/>
                </a:solidFill>
              </a:defRPr>
            </a:pPr>
            <a:r>
              <a:t>2. CONSORTIUM FRAUD GRAPH NETWORK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</a:rPr>
              <a:t>• Cross-Merchant Identity Mesh: </a:t>
            </a:r>
            <a:r>
              <a:rPr sz="900">
                <a:solidFill>
                  <a:srgbClr val="475569"/>
                </a:solidFill>
              </a:rPr>
              <a:t>Privacy-preserving zero-knowledge graph network that pools anonymized risk telemetry across independent Indian D2C stores to preemptively flag serial fraudsters.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3. MANIFEST V3 CHROME OPERATIONS EXTENSION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</a:rPr>
              <a:t>• Embedded E-Commerce Integration: </a:t>
            </a:r>
            <a:r>
              <a:rPr sz="900">
                <a:solidFill>
                  <a:srgbClr val="475569"/>
                </a:solidFill>
              </a:rPr>
              <a:t>Browser toolbar extension injecting ReturnGuard's 0-100 risk badges and 1-click triage buttons directly inside Shopify, WooCommerce, and Magento order management panels.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DC2626"/>
                </a:solidFill>
              </a:defRPr>
            </a:pPr>
            <a:r>
              <a:t>4. AUTOMATED UPI PENNY-DROP &amp; SPLIT REFUNDS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</a:rPr>
              <a:t>• Frictionless Micro-Settlements: </a:t>
            </a:r>
            <a:r>
              <a:rPr sz="900">
                <a:solidFill>
                  <a:srgbClr val="475569"/>
                </a:solidFill>
              </a:rPr>
              <a:t>Algorithmic bank account verification via ₹1 NPCI UPI penny-drops, enabling automated fractional payouts and dynamic deductions for missing product accessories or tags.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9966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731520" rIns="457200" rtlCol="0" anchor="ctr"/>
          <a:lstStyle/>
          <a:p>
            <a:pPr algn="ctr">
              <a:spcAft>
                <a:spcPts val="1400"/>
              </a:spcAft>
              <a:defRPr sz="5600" b="1">
                <a:solidFill>
                  <a:srgbClr val="0F172A"/>
                </a:solidFill>
              </a:defRPr>
            </a:pPr>
            <a:r>
              <a:rPr dirty="0"/>
              <a:t>THANK YOU</a:t>
            </a:r>
          </a:p>
          <a:p>
            <a:pPr algn="ctr">
              <a:spcAft>
                <a:spcPts val="2800"/>
              </a:spcAft>
              <a:defRPr sz="2000">
                <a:solidFill>
                  <a:srgbClr val="475569"/>
                </a:solidFill>
              </a:defRPr>
            </a:pPr>
            <a:r>
              <a:rPr dirty="0" err="1"/>
              <a:t>ReturnGuard</a:t>
            </a:r>
            <a:r>
              <a:rPr dirty="0"/>
              <a:t>: AI-Assisted Return-Fraud Detection Platform</a:t>
            </a:r>
          </a:p>
          <a:p>
            <a:pPr algn="ctr">
              <a:defRPr sz="1600" b="1">
                <a:solidFill>
                  <a:srgbClr val="0D9488"/>
                </a:solidFill>
              </a:defRPr>
            </a:pPr>
            <a:r>
              <a:rPr dirty="0"/>
              <a:t>Open for Questions, Architectural Inquiries &amp; Technical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1336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krishna janga</cp:lastModifiedBy>
  <cp:revision>1</cp:revision>
  <dcterms:created xsi:type="dcterms:W3CDTF">2013-01-27T09:14:16Z</dcterms:created>
  <dcterms:modified xsi:type="dcterms:W3CDTF">2026-09-10T06:38:33Z</dcterms:modified>
  <cp:category/>
</cp:coreProperties>
</file>